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1 min. Dire : « En une heure, vous ne deviendrez pas développeur IA. Vous repartirez toutefois avec une méthode, des garde-fous et un exemple que vous pourrez reproduire. » Annoncer le fil : contexte, rules, skills, workflow, frameworks, contrôles. Kilo Code est l’outil visible de la démonstration, pas une recommandation exclusive. Transition : Pour comprendre pourquoi cette méthode existe, regardons ce qui a changé.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 min. La complétion aide sur une ligne ou une fonction. Un agent peut explorer, planifier, appeler des outils, modifier plusieurs fichiers et vérifier. Cela augmente aussi la portée des erreurs. Le développeur reste responsable des décisions et du résultat. Transition : La différence ne tient donc pas seulement au modèle ; elle tient à l’environnement de travail.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Expliquer simplement modèle versus agent. Poser le vocabulaire : outils de lecture/écriture, terminal, Git, tests, recherche ; MCP comme protocole standardisé ; hooks comme actions avant ou après un événement ; sous-agents comme délégation spécialisée avec coût, coordination et complexité. Dire qu’un agent n’est ni autonome au sens absolu ni infaillible. Transition : Pour garder cette capacité sous contrôle, on rend les étapes visibles.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 min. Parcourir comprendre → planifier → faire approuver → implémenter → vérifier → revoir le diff. Insister sur l’approbation humaine : on peut réduire le périmètre ou corriger une mauvaise interprétation avant les modifications. Transition : Comprendre dépend de ce que l’agent peut réellement voir.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Le contexte utile rassemble code, documentation, demande, critères, architecture, conventions, historique pertinent, commandes de validation et contraintes de sécurité. Insister : sélectionner le contexte pertinent plutôt que tout charger sans discernement. Phrase : « Je donne d’abord à l’agent les moyens de comprendre le projet. » Transition : Voyons cette découverte sans toucher à un fichier.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Ouvrir le projet avec Kilo Code, rester en mode planification/lecture seule et saisir le prompt d’exploration. Montrer structure, app/main.py, tests, make check, kilo.jsonc, rules et skills. Ne pas lire ligne à ligne : relever deux observations. Solution de secours : demo-assets/expected-plan.md. Transition : Certaines attentes ne doivent pas être répétées à chaque demande : ce sont les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 min. Une rule est une instruction persistante propre au projet ou à l’équipe. Elle dit principalement ce qui doit être respecté. Montrer kilo.jsonc et les quatre rules. Dire explicitement qu’une rule n’est pas une barrière technique : permissions, tests, CI et revue restent nécessaires. Transition : Mesurons l’effet avec deux plans, sans refaire la fonctionnalité.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 min. Afficher les deux fichiers Markdown préparés. Le plan sans rules est générique ; celui avec rules cible les fichiers, les tests et make check. Ne pas faire deux implémentations. Conclusion : les rules réduisent l’ambiguïté et rendent le comportement plus reproductible. Transition : Une rule dit surtout quoi respecter ; un skill décrit comment exécuter une tâche.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2 min. Un skill est une procédure réutilisable : éléments à lire, étapes, contrôles et forme du résultat. Montrer le frontmatter name/description et les trois skills. La rule dit principalement quoi respecter ; le skill décrit comment exécuter une tâche ou un workflow. Transition : Utilisons plan-change sur une demande petite.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4 min. Saisir le prompt plan-change. Laisser l’agent lire code, tests et rules. Attendre critères, fichiers, tests et risques. Arrêter avant toute modification. Poser la question : qu’est-ce qui ferait approuver ou refuser ce plan ? Marquer : « Le plan est un point de contrôle humain, pas une formalité. » Secours : expected-plan.md. Transition : Le plan est approuvé ; l’agent peut agir dans un périmètre connu.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5 min. Saisir le prompt implement-change après approbation. Montrer les fichiers touchés, les tests et make check. Vérifier absence de filtre, filtre valide et 422. Afficher le diff. Dire : « Les tests et outils déterministes vérifient le résultat. » Puis : « Je regarde le diff et les contrôles, pas uniquement le résumé de l’agent. » Secours : expected-diff.md, expected-checks.md ou tag demo/implemented en worktree. Transition : Ce qui a protégé la modification forme le harnais.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Définir : « Le harnais est l’ensemble du contexte, des règles, outils, tests, permissions et boucles de validation qui encadrent l’agent. » Montrer tests unitaires, intégration/API, lint, types, build/CI, revue du diff, permissions. Mentionner les hooks comme automatisations avant/après. Message : « Plus l’agent peut agir, plus le harnais doit être explicite. » Transition : Le changement respecte-t-il réellement la demande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Utiliser review-change en lecture seule. Comparer demande, plan, rules, diff et résultats. Relever une conformité et demander une conclusion explicite sur les blockers. La revue ne modifie pas les fichiers. Secours : diff et contrôles attendus. Transition : Des frameworks existent si l’on veut plus de structure, mais ils ne sont pas obligatoires.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3 min. Présenter comme des niveaux d’industrialisation facultatifs : Spec Kit, OpenSpec, BMAD Method et AIDD. Ne pas en faire un catalogue ni évoquer une incompatibilité avec Kilo Code. Dire qu’ils fournissent souvent prompts, commandes ou skills pour planifier, implémenter et revoir. On peut commencer petit puis industrialiser. Transition : Le dernier niveau n’est pas un outil : ce sont nos limites et notre responsabilité.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 4 min. Rappeler : aucun secret dans prompts, rules, logs ou démo ; vérifier les commandes ; limiter permissions ; branche/worktree ; diff ; pas de production ni données sensibles ; rules ≠ barrières techniques. Dire avec prudence : « Le TDD semble fournir une boucle particulièrement lisible pour l’agent. C’est une piste intéressante, mais ce n’est ni obligatoire ni une pratique que je prétends aujourd’hui maîtriser avec l’IA. » Conclure : contexte, rules, skills, approbation, harnais. Passer la parole pour 8 minutes de formations, puis 10 minutes de questions. Les ressources officielles sont dans docs/resources.md.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23C"/>
        </a:solidFill>
        <a:effectLst/>
      </p:bgPr>
    </p:bg>
    <p:spTree>
      <p:nvGrpSpPr>
        <p:cNvPr id="1" name=""/>
        <p:cNvGrpSpPr/>
        <p:nvPr/>
      </p:nvGrpSpPr>
      <p:grpSpPr/>
      <p:sp>
        <p:nvSpPr>
          <p:cNvPr id="2" name="Oval 1"/>
          <p:cNvSpPr/>
          <p:nvPr/>
        </p:nvSpPr>
        <p:spPr>
          <a:xfrm>
            <a:off x="9235440" y="-548640"/>
            <a:ext cx="3840480" cy="3840480"/>
          </a:xfrm>
          <a:prstGeom prst="ellipse">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87000" y="4160520"/>
            <a:ext cx="2651760" cy="2651760"/>
          </a:xfrm>
          <a:prstGeom prst="ellipse">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658368"/>
            <a:ext cx="4297680" cy="347472"/>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8952" y="722376"/>
            <a:ext cx="4151376" cy="201168"/>
          </a:xfrm>
          <a:prstGeom prst="rect">
            <a:avLst/>
          </a:prstGeom>
          <a:noFill/>
        </p:spPr>
        <p:txBody>
          <a:bodyPr wrap="square" lIns="27432" rIns="27432" tIns="18288" bIns="18288" anchor="t">
            <a:spAutoFit/>
          </a:bodyPr>
          <a:lstStyle/>
          <a:p>
            <a:pPr algn="ctr">
              <a:spcAft>
                <a:spcPts val="0"/>
              </a:spcAft>
            </a:pPr>
            <a:r>
              <a:rPr sz="1100" b="1">
                <a:solidFill>
                  <a:srgbClr val="12223C"/>
                </a:solidFill>
                <a:latin typeface="Aptos"/>
              </a:rPr>
              <a:t>UNE MÉTHODE · DES GARDE-FOUS · UN EXEMPLE</a:t>
            </a:r>
          </a:p>
        </p:txBody>
      </p:sp>
      <p:sp>
        <p:nvSpPr>
          <p:cNvPr id="6" name="TextBox 5"/>
          <p:cNvSpPr txBox="1"/>
          <p:nvPr/>
        </p:nvSpPr>
        <p:spPr>
          <a:xfrm>
            <a:off x="685800" y="1417320"/>
            <a:ext cx="7772400" cy="2011680"/>
          </a:xfrm>
          <a:prstGeom prst="rect">
            <a:avLst/>
          </a:prstGeom>
          <a:noFill/>
        </p:spPr>
        <p:txBody>
          <a:bodyPr wrap="square" lIns="27432" rIns="27432" tIns="18288" bIns="18288" anchor="t">
            <a:spAutoFit/>
          </a:bodyPr>
          <a:lstStyle/>
          <a:p>
            <a:pPr algn="l">
              <a:spcAft>
                <a:spcPts val="0"/>
              </a:spcAft>
            </a:pPr>
            <a:r>
              <a:rPr sz="3400" b="1">
                <a:solidFill>
                  <a:srgbClr val="FFFFFF"/>
                </a:solidFill>
                <a:latin typeface="Aptos"/>
              </a:rPr>
              <a:t>Premiers pas vers
le développement
augmenté par l’IA</a:t>
            </a:r>
          </a:p>
        </p:txBody>
      </p:sp>
      <p:sp>
        <p:nvSpPr>
          <p:cNvPr id="7" name="TextBox 6"/>
          <p:cNvSpPr txBox="1"/>
          <p:nvPr/>
        </p:nvSpPr>
        <p:spPr>
          <a:xfrm>
            <a:off x="713232" y="3858768"/>
            <a:ext cx="6675120" cy="502920"/>
          </a:xfrm>
          <a:prstGeom prst="rect">
            <a:avLst/>
          </a:prstGeom>
          <a:noFill/>
        </p:spPr>
        <p:txBody>
          <a:bodyPr wrap="square" lIns="27432" rIns="27432" tIns="18288" bIns="18288" anchor="t">
            <a:spAutoFit/>
          </a:bodyPr>
          <a:lstStyle/>
          <a:p>
            <a:pPr algn="l">
              <a:spcAft>
                <a:spcPts val="0"/>
              </a:spcAft>
            </a:pPr>
            <a:r>
              <a:rPr sz="1800" b="0">
                <a:solidFill>
                  <a:srgbClr val="D4E0F2"/>
                </a:solidFill>
                <a:latin typeface="Aptos"/>
              </a:rPr>
              <a:t>Une heure pour repartir avec une méthode reproductible — pas pour devenir expert.</a:t>
            </a:r>
          </a:p>
        </p:txBody>
      </p:sp>
      <p:sp>
        <p:nvSpPr>
          <p:cNvPr id="8" name="TextBox 7"/>
          <p:cNvSpPr txBox="1"/>
          <p:nvPr/>
        </p:nvSpPr>
        <p:spPr>
          <a:xfrm>
            <a:off x="713232" y="5989320"/>
            <a:ext cx="6858000" cy="228600"/>
          </a:xfrm>
          <a:prstGeom prst="rect">
            <a:avLst/>
          </a:prstGeom>
          <a:noFill/>
        </p:spPr>
        <p:txBody>
          <a:bodyPr wrap="square" lIns="27432" rIns="27432" tIns="18288" bIns="18288" anchor="t">
            <a:spAutoFit/>
          </a:bodyPr>
          <a:lstStyle/>
          <a:p>
            <a:pPr algn="l">
              <a:spcAft>
                <a:spcPts val="0"/>
              </a:spcAft>
            </a:pPr>
            <a:r>
              <a:rPr sz="1100" b="0">
                <a:solidFill>
                  <a:srgbClr val="B4C6DD"/>
                </a:solidFill>
                <a:latin typeface="Aptos"/>
              </a:rPr>
              <a:t>Kilo Code comme outil de démonstration · principes transposables</a:t>
            </a:r>
          </a:p>
        </p:txBody>
      </p:sp>
      <p:sp>
        <p:nvSpPr>
          <p:cNvPr id="9" name="TextBox 8"/>
          <p:cNvSpPr txBox="1"/>
          <p:nvPr/>
        </p:nvSpPr>
        <p:spPr>
          <a:xfrm>
            <a:off x="10424160" y="6473952"/>
            <a:ext cx="1097280" cy="164592"/>
          </a:xfrm>
          <a:prstGeom prst="rect">
            <a:avLst/>
          </a:prstGeom>
          <a:noFill/>
        </p:spPr>
        <p:txBody>
          <a:bodyPr wrap="square" lIns="27432" rIns="27432" tIns="18288" bIns="18288" anchor="t">
            <a:spAutoFit/>
          </a:bodyPr>
          <a:lstStyle/>
          <a:p>
            <a:pPr algn="r">
              <a:spcAft>
                <a:spcPts val="0"/>
              </a:spcAft>
            </a:pPr>
            <a:r>
              <a:rPr sz="900" b="0">
                <a:solidFill>
                  <a:srgbClr val="B4C6DD"/>
                </a:solidFill>
                <a:latin typeface="Aptos"/>
              </a:rPr>
              <a:t>01  ·  1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CONTEXTE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Pourquoi maintenant ?</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02  ·  2 min</a:t>
            </a:r>
          </a:p>
        </p:txBody>
      </p:sp>
      <p:sp>
        <p:nvSpPr>
          <p:cNvPr id="6" name="Rounded Rectangle 5"/>
          <p:cNvSpPr/>
          <p:nvPr/>
        </p:nvSpPr>
        <p:spPr>
          <a:xfrm>
            <a:off x="685800" y="1828800"/>
            <a:ext cx="3246120" cy="19202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828800"/>
            <a:ext cx="73152" cy="192024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834639"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Avant</a:t>
            </a:r>
          </a:p>
        </p:txBody>
      </p:sp>
      <p:sp>
        <p:nvSpPr>
          <p:cNvPr id="9" name="TextBox 8"/>
          <p:cNvSpPr txBox="1"/>
          <p:nvPr/>
        </p:nvSpPr>
        <p:spPr>
          <a:xfrm>
            <a:off x="914400" y="2414016"/>
            <a:ext cx="2834639" cy="120700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Complétion locale
Une ligne, une fonction, une réponse.</a:t>
            </a:r>
          </a:p>
        </p:txBody>
      </p:sp>
      <p:sp>
        <p:nvSpPr>
          <p:cNvPr id="10" name="Right Arrow 9"/>
          <p:cNvSpPr/>
          <p:nvPr/>
        </p:nvSpPr>
        <p:spPr>
          <a:xfrm>
            <a:off x="4251960" y="2542032"/>
            <a:ext cx="65836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74920" y="1828800"/>
            <a:ext cx="3246120" cy="192024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74920" y="1828800"/>
            <a:ext cx="73152" cy="192024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2011680"/>
            <a:ext cx="2834639"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Maintenant</a:t>
            </a:r>
          </a:p>
        </p:txBody>
      </p:sp>
      <p:sp>
        <p:nvSpPr>
          <p:cNvPr id="14" name="TextBox 13"/>
          <p:cNvSpPr txBox="1"/>
          <p:nvPr/>
        </p:nvSpPr>
        <p:spPr>
          <a:xfrm>
            <a:off x="5303520" y="2414016"/>
            <a:ext cx="2834639" cy="120700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Explorer · planifier · modifier
· tester un projet.</a:t>
            </a:r>
          </a:p>
        </p:txBody>
      </p:sp>
      <p:sp>
        <p:nvSpPr>
          <p:cNvPr id="15" name="Right Arrow 14"/>
          <p:cNvSpPr/>
          <p:nvPr/>
        </p:nvSpPr>
        <p:spPr>
          <a:xfrm>
            <a:off x="8641080" y="2542032"/>
            <a:ext cx="65836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64040" y="1828800"/>
            <a:ext cx="2011680" cy="192024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464040" y="1828800"/>
            <a:ext cx="73152" cy="192024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011680"/>
            <a:ext cx="1600200" cy="274320"/>
          </a:xfrm>
          <a:prstGeom prst="rect">
            <a:avLst/>
          </a:prstGeom>
          <a:noFill/>
        </p:spPr>
        <p:txBody>
          <a:bodyPr wrap="square" lIns="27432" rIns="27432" tIns="18288" bIns="18288" anchor="t">
            <a:spAutoFit/>
          </a:bodyPr>
          <a:lstStyle/>
          <a:p>
            <a:pPr algn="l">
              <a:spcAft>
                <a:spcPts val="0"/>
              </a:spcAft>
            </a:pPr>
            <a:r>
              <a:rPr sz="1400" b="1">
                <a:solidFill>
                  <a:srgbClr val="161F31"/>
                </a:solidFill>
                <a:latin typeface="Aptos"/>
              </a:rPr>
              <a:t>Responsabilité</a:t>
            </a:r>
          </a:p>
        </p:txBody>
      </p:sp>
      <p:sp>
        <p:nvSpPr>
          <p:cNvPr id="19" name="TextBox 18"/>
          <p:cNvSpPr txBox="1"/>
          <p:nvPr/>
        </p:nvSpPr>
        <p:spPr>
          <a:xfrm>
            <a:off x="9692640" y="2414016"/>
            <a:ext cx="1600200" cy="12070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L’agent propose et exécute.
Le développeur décide et vérifie.</a:t>
            </a:r>
          </a:p>
        </p:txBody>
      </p:sp>
      <p:sp>
        <p:nvSpPr>
          <p:cNvPr id="20" name="TextBox 19"/>
          <p:cNvSpPr txBox="1"/>
          <p:nvPr/>
        </p:nvSpPr>
        <p:spPr>
          <a:xfrm>
            <a:off x="914400" y="4754880"/>
            <a:ext cx="9784080" cy="502920"/>
          </a:xfrm>
          <a:prstGeom prst="rect">
            <a:avLst/>
          </a:prstGeom>
          <a:noFill/>
        </p:spPr>
        <p:txBody>
          <a:bodyPr wrap="square" lIns="27432" rIns="27432" tIns="18288" bIns="18288" anchor="t">
            <a:spAutoFit/>
          </a:bodyPr>
          <a:lstStyle/>
          <a:p>
            <a:pPr algn="ctr">
              <a:spcAft>
                <a:spcPts val="0"/>
              </a:spcAft>
            </a:pPr>
            <a:r>
              <a:rPr sz="2200" b="1">
                <a:solidFill>
                  <a:srgbClr val="12223C"/>
                </a:solidFill>
                <a:latin typeface="Aptos"/>
              </a:rPr>
              <a:t>Plus de portée = plus de valeur potentielle… et plus de surface d’erreur.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VOCABULAIRE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Du modèle à l’agent</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03  ·  3 min</a:t>
            </a:r>
          </a:p>
        </p:txBody>
      </p:sp>
      <p:sp>
        <p:nvSpPr>
          <p:cNvPr id="6" name="Rounded Rectangle 5"/>
          <p:cNvSpPr/>
          <p:nvPr/>
        </p:nvSpPr>
        <p:spPr>
          <a:xfrm>
            <a:off x="731520" y="1828800"/>
            <a:ext cx="2834640" cy="2057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73152" cy="205740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11680"/>
            <a:ext cx="242316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Modèle</a:t>
            </a:r>
          </a:p>
        </p:txBody>
      </p:sp>
      <p:sp>
        <p:nvSpPr>
          <p:cNvPr id="9" name="TextBox 8"/>
          <p:cNvSpPr txBox="1"/>
          <p:nvPr/>
        </p:nvSpPr>
        <p:spPr>
          <a:xfrm>
            <a:off x="960120" y="2414016"/>
            <a:ext cx="2423160" cy="134416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Produit une réponse à partir des informations reçues.</a:t>
            </a:r>
          </a:p>
        </p:txBody>
      </p:sp>
      <p:sp>
        <p:nvSpPr>
          <p:cNvPr id="10" name="Right Arrow 9"/>
          <p:cNvSpPr/>
          <p:nvPr/>
        </p:nvSpPr>
        <p:spPr>
          <a:xfrm>
            <a:off x="3840480" y="2697480"/>
            <a:ext cx="658368"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63440" y="1600200"/>
            <a:ext cx="2743200" cy="25146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63440" y="1600200"/>
            <a:ext cx="73152" cy="25146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1783080"/>
            <a:ext cx="233172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Agent</a:t>
            </a:r>
          </a:p>
        </p:txBody>
      </p:sp>
      <p:sp>
        <p:nvSpPr>
          <p:cNvPr id="14" name="TextBox 13"/>
          <p:cNvSpPr txBox="1"/>
          <p:nvPr/>
        </p:nvSpPr>
        <p:spPr>
          <a:xfrm>
            <a:off x="4892040" y="2185416"/>
            <a:ext cx="2331720" cy="180136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Observe
Planifie
Utilise des outils
Modifie
Vérifie</a:t>
            </a:r>
          </a:p>
        </p:txBody>
      </p:sp>
      <p:sp>
        <p:nvSpPr>
          <p:cNvPr id="15" name="Right Arrow 14"/>
          <p:cNvSpPr/>
          <p:nvPr/>
        </p:nvSpPr>
        <p:spPr>
          <a:xfrm>
            <a:off x="7635240" y="2697480"/>
            <a:ext cx="658368"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58200" y="1828800"/>
            <a:ext cx="2926080" cy="205740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58200" y="1828800"/>
            <a:ext cx="73152" cy="20574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2011680"/>
            <a:ext cx="251460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Environnement</a:t>
            </a:r>
          </a:p>
        </p:txBody>
      </p:sp>
      <p:sp>
        <p:nvSpPr>
          <p:cNvPr id="19" name="TextBox 18"/>
          <p:cNvSpPr txBox="1"/>
          <p:nvPr/>
        </p:nvSpPr>
        <p:spPr>
          <a:xfrm>
            <a:off x="8686800" y="2414016"/>
            <a:ext cx="2514600" cy="134416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Fichiers · terminal · Git
Tests · recherche · MCP
Permissions · hooks</a:t>
            </a:r>
          </a:p>
        </p:txBody>
      </p:sp>
      <p:sp>
        <p:nvSpPr>
          <p:cNvPr id="20" name="Rounded Rectangle 19"/>
          <p:cNvSpPr/>
          <p:nvPr/>
        </p:nvSpPr>
        <p:spPr>
          <a:xfrm>
            <a:off x="1828800" y="4892040"/>
            <a:ext cx="3931920" cy="347472"/>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1952" y="4956048"/>
            <a:ext cx="3785615" cy="201168"/>
          </a:xfrm>
          <a:prstGeom prst="rect">
            <a:avLst/>
          </a:prstGeom>
          <a:noFill/>
        </p:spPr>
        <p:txBody>
          <a:bodyPr wrap="square" lIns="27432" rIns="27432" tIns="18288" bIns="18288" anchor="t">
            <a:spAutoFit/>
          </a:bodyPr>
          <a:lstStyle/>
          <a:p>
            <a:pPr algn="ctr">
              <a:spcAft>
                <a:spcPts val="0"/>
              </a:spcAft>
            </a:pPr>
            <a:r>
              <a:rPr sz="1100" b="1">
                <a:solidFill>
                  <a:srgbClr val="161F31"/>
                </a:solidFill>
                <a:latin typeface="Aptos"/>
              </a:rPr>
              <a:t>MCP = exposer outils / sources de façon standardisée</a:t>
            </a:r>
          </a:p>
        </p:txBody>
      </p:sp>
      <p:sp>
        <p:nvSpPr>
          <p:cNvPr id="22" name="Rounded Rectangle 21"/>
          <p:cNvSpPr/>
          <p:nvPr/>
        </p:nvSpPr>
        <p:spPr>
          <a:xfrm>
            <a:off x="5989320" y="4892040"/>
            <a:ext cx="3474720" cy="347472"/>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62472" y="4956048"/>
            <a:ext cx="3328415" cy="201168"/>
          </a:xfrm>
          <a:prstGeom prst="rect">
            <a:avLst/>
          </a:prstGeom>
          <a:noFill/>
        </p:spPr>
        <p:txBody>
          <a:bodyPr wrap="square" lIns="27432" rIns="27432" tIns="18288" bIns="18288" anchor="t">
            <a:spAutoFit/>
          </a:bodyPr>
          <a:lstStyle/>
          <a:p>
            <a:pPr algn="ctr">
              <a:spcAft>
                <a:spcPts val="0"/>
              </a:spcAft>
            </a:pPr>
            <a:r>
              <a:rPr sz="1100" b="1">
                <a:solidFill>
                  <a:srgbClr val="161F31"/>
                </a:solidFill>
                <a:latin typeface="Aptos"/>
              </a:rPr>
              <a:t>Hooks = action avant / après un événement</a:t>
            </a:r>
          </a:p>
        </p:txBody>
      </p:sp>
      <p:sp>
        <p:nvSpPr>
          <p:cNvPr id="24" name="Rounded Rectangle 23"/>
          <p:cNvSpPr/>
          <p:nvPr/>
        </p:nvSpPr>
        <p:spPr>
          <a:xfrm>
            <a:off x="9646920" y="4892040"/>
            <a:ext cx="1828800" cy="347472"/>
          </a:xfrm>
          <a:prstGeom prst="roundRect">
            <a:avLst/>
          </a:prstGeom>
          <a:solidFill>
            <a:srgbClr val="FCE9E9"/>
          </a:solidFill>
          <a:ln>
            <a:solidFill>
              <a:srgbClr val="FCE9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4956048"/>
            <a:ext cx="1682496" cy="201168"/>
          </a:xfrm>
          <a:prstGeom prst="rect">
            <a:avLst/>
          </a:prstGeom>
          <a:noFill/>
        </p:spPr>
        <p:txBody>
          <a:bodyPr wrap="square" lIns="27432" rIns="27432" tIns="18288" bIns="18288" anchor="t">
            <a:spAutoFit/>
          </a:bodyPr>
          <a:lstStyle/>
          <a:p>
            <a:pPr algn="ctr">
              <a:spcAft>
                <a:spcPts val="0"/>
              </a:spcAft>
            </a:pPr>
            <a:r>
              <a:rPr sz="1100" b="1">
                <a:solidFill>
                  <a:srgbClr val="161F31"/>
                </a:solidFill>
                <a:latin typeface="Aptos"/>
              </a:rPr>
              <a:t>Sous-agents = délégation + coût + coordination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MÉTHODE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Le workflow de référence</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04  ·  2 min</a:t>
            </a:r>
          </a:p>
        </p:txBody>
      </p:sp>
      <p:sp>
        <p:nvSpPr>
          <p:cNvPr id="6" name="Rounded Rectangle 5"/>
          <p:cNvSpPr/>
          <p:nvPr/>
        </p:nvSpPr>
        <p:spPr>
          <a:xfrm>
            <a:off x="685800" y="2057400"/>
            <a:ext cx="1508760" cy="1325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2057400"/>
            <a:ext cx="73152" cy="132588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01</a:t>
            </a:r>
          </a:p>
        </p:txBody>
      </p:sp>
      <p:sp>
        <p:nvSpPr>
          <p:cNvPr id="9" name="TextBox 8"/>
          <p:cNvSpPr txBox="1"/>
          <p:nvPr/>
        </p:nvSpPr>
        <p:spPr>
          <a:xfrm>
            <a:off x="914400"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Comprendre</a:t>
            </a:r>
          </a:p>
        </p:txBody>
      </p:sp>
      <p:sp>
        <p:nvSpPr>
          <p:cNvPr id="10" name="Right Arrow 9"/>
          <p:cNvSpPr/>
          <p:nvPr/>
        </p:nvSpPr>
        <p:spPr>
          <a:xfrm>
            <a:off x="2240280" y="2606040"/>
            <a:ext cx="24688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60320" y="2057400"/>
            <a:ext cx="1508760" cy="132588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0" y="2057400"/>
            <a:ext cx="73152" cy="132588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02</a:t>
            </a:r>
          </a:p>
        </p:txBody>
      </p:sp>
      <p:sp>
        <p:nvSpPr>
          <p:cNvPr id="14" name="TextBox 13"/>
          <p:cNvSpPr txBox="1"/>
          <p:nvPr/>
        </p:nvSpPr>
        <p:spPr>
          <a:xfrm>
            <a:off x="2788920"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Planifier</a:t>
            </a:r>
          </a:p>
        </p:txBody>
      </p:sp>
      <p:sp>
        <p:nvSpPr>
          <p:cNvPr id="15" name="Right Arrow 14"/>
          <p:cNvSpPr/>
          <p:nvPr/>
        </p:nvSpPr>
        <p:spPr>
          <a:xfrm>
            <a:off x="4114800" y="2606040"/>
            <a:ext cx="24688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34840" y="2057400"/>
            <a:ext cx="1508760" cy="132588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2057400"/>
            <a:ext cx="73152" cy="132588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03</a:t>
            </a:r>
          </a:p>
        </p:txBody>
      </p:sp>
      <p:sp>
        <p:nvSpPr>
          <p:cNvPr id="19" name="TextBox 18"/>
          <p:cNvSpPr txBox="1"/>
          <p:nvPr/>
        </p:nvSpPr>
        <p:spPr>
          <a:xfrm>
            <a:off x="4663440"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Approuver</a:t>
            </a:r>
          </a:p>
        </p:txBody>
      </p:sp>
      <p:sp>
        <p:nvSpPr>
          <p:cNvPr id="20" name="Right Arrow 19"/>
          <p:cNvSpPr/>
          <p:nvPr/>
        </p:nvSpPr>
        <p:spPr>
          <a:xfrm>
            <a:off x="5989320" y="2606040"/>
            <a:ext cx="24688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9359" y="2057400"/>
            <a:ext cx="1508760" cy="1325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59" y="2057400"/>
            <a:ext cx="73152" cy="132588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59"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04</a:t>
            </a:r>
          </a:p>
        </p:txBody>
      </p:sp>
      <p:sp>
        <p:nvSpPr>
          <p:cNvPr id="24" name="TextBox 23"/>
          <p:cNvSpPr txBox="1"/>
          <p:nvPr/>
        </p:nvSpPr>
        <p:spPr>
          <a:xfrm>
            <a:off x="6537959"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Implémenter</a:t>
            </a:r>
          </a:p>
        </p:txBody>
      </p:sp>
      <p:sp>
        <p:nvSpPr>
          <p:cNvPr id="25" name="Right Arrow 24"/>
          <p:cNvSpPr/>
          <p:nvPr/>
        </p:nvSpPr>
        <p:spPr>
          <a:xfrm>
            <a:off x="7863840" y="2606040"/>
            <a:ext cx="24688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83879" y="2057400"/>
            <a:ext cx="1508760" cy="1325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83879" y="2057400"/>
            <a:ext cx="73152" cy="132588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05</a:t>
            </a:r>
          </a:p>
        </p:txBody>
      </p:sp>
      <p:sp>
        <p:nvSpPr>
          <p:cNvPr id="29" name="TextBox 28"/>
          <p:cNvSpPr txBox="1"/>
          <p:nvPr/>
        </p:nvSpPr>
        <p:spPr>
          <a:xfrm>
            <a:off x="8412480"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Vérifier</a:t>
            </a:r>
          </a:p>
        </p:txBody>
      </p:sp>
      <p:sp>
        <p:nvSpPr>
          <p:cNvPr id="30" name="Right Arrow 29"/>
          <p:cNvSpPr/>
          <p:nvPr/>
        </p:nvSpPr>
        <p:spPr>
          <a:xfrm>
            <a:off x="9738359" y="2606040"/>
            <a:ext cx="24688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58400" y="2057400"/>
            <a:ext cx="1508760" cy="1325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058400" y="2057400"/>
            <a:ext cx="73152" cy="132588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87000" y="2240280"/>
            <a:ext cx="109728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06</a:t>
            </a:r>
          </a:p>
        </p:txBody>
      </p:sp>
      <p:sp>
        <p:nvSpPr>
          <p:cNvPr id="34" name="TextBox 33"/>
          <p:cNvSpPr txBox="1"/>
          <p:nvPr/>
        </p:nvSpPr>
        <p:spPr>
          <a:xfrm>
            <a:off x="10287000" y="2642616"/>
            <a:ext cx="1097280" cy="61264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Revoir le diff</a:t>
            </a:r>
          </a:p>
        </p:txBody>
      </p:sp>
      <p:sp>
        <p:nvSpPr>
          <p:cNvPr id="35" name="TextBox 34"/>
          <p:cNvSpPr txBox="1"/>
          <p:nvPr/>
        </p:nvSpPr>
        <p:spPr>
          <a:xfrm>
            <a:off x="914400" y="4709160"/>
            <a:ext cx="10241280" cy="502920"/>
          </a:xfrm>
          <a:prstGeom prst="rect">
            <a:avLst/>
          </a:prstGeom>
          <a:noFill/>
        </p:spPr>
        <p:txBody>
          <a:bodyPr wrap="square" lIns="27432" rIns="27432" tIns="18288" bIns="18288" anchor="t">
            <a:spAutoFit/>
          </a:bodyPr>
          <a:lstStyle/>
          <a:p>
            <a:pPr algn="ctr">
              <a:spcAft>
                <a:spcPts val="0"/>
              </a:spcAft>
            </a:pPr>
            <a:r>
              <a:rPr sz="2300" b="1">
                <a:solidFill>
                  <a:srgbClr val="12223C"/>
                </a:solidFill>
                <a:latin typeface="Aptos"/>
              </a:rPr>
              <a:t>Le plan est un point de contrôle humain, pas une formalité.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CONTEXTE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Le contexte : premier facteur de qualité</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05  ·  3 min</a:t>
            </a:r>
          </a:p>
        </p:txBody>
      </p:sp>
      <p:sp>
        <p:nvSpPr>
          <p:cNvPr id="6" name="Rounded Rectangle 5"/>
          <p:cNvSpPr/>
          <p:nvPr/>
        </p:nvSpPr>
        <p:spPr>
          <a:xfrm>
            <a:off x="822960" y="1828800"/>
            <a:ext cx="315468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828800"/>
            <a:ext cx="73152" cy="100584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11680"/>
            <a:ext cx="27432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Code</a:t>
            </a:r>
          </a:p>
        </p:txBody>
      </p:sp>
      <p:sp>
        <p:nvSpPr>
          <p:cNvPr id="9" name="TextBox 8"/>
          <p:cNvSpPr txBox="1"/>
          <p:nvPr/>
        </p:nvSpPr>
        <p:spPr>
          <a:xfrm>
            <a:off x="1051560" y="2414016"/>
            <a:ext cx="2743200" cy="2926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Contexte pertinent
plutôt que tout charger</a:t>
            </a:r>
          </a:p>
        </p:txBody>
      </p:sp>
      <p:sp>
        <p:nvSpPr>
          <p:cNvPr id="10" name="Rounded Rectangle 9"/>
          <p:cNvSpPr/>
          <p:nvPr/>
        </p:nvSpPr>
        <p:spPr>
          <a:xfrm>
            <a:off x="4572000" y="1828800"/>
            <a:ext cx="3154680" cy="100584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1828800"/>
            <a:ext cx="73152" cy="100584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2011680"/>
            <a:ext cx="27432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Demande + critères</a:t>
            </a:r>
          </a:p>
        </p:txBody>
      </p:sp>
      <p:sp>
        <p:nvSpPr>
          <p:cNvPr id="13" name="TextBox 12"/>
          <p:cNvSpPr txBox="1"/>
          <p:nvPr/>
        </p:nvSpPr>
        <p:spPr>
          <a:xfrm>
            <a:off x="4800600" y="2414016"/>
            <a:ext cx="2743200" cy="2926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Contexte pertinent
plutôt que tout charger</a:t>
            </a:r>
          </a:p>
        </p:txBody>
      </p:sp>
      <p:sp>
        <p:nvSpPr>
          <p:cNvPr id="14" name="Rounded Rectangle 13"/>
          <p:cNvSpPr/>
          <p:nvPr/>
        </p:nvSpPr>
        <p:spPr>
          <a:xfrm>
            <a:off x="8321040" y="1828800"/>
            <a:ext cx="315468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1828800"/>
            <a:ext cx="73152" cy="100584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2011680"/>
            <a:ext cx="27432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Architecture + conventions</a:t>
            </a:r>
          </a:p>
        </p:txBody>
      </p:sp>
      <p:sp>
        <p:nvSpPr>
          <p:cNvPr id="17" name="TextBox 16"/>
          <p:cNvSpPr txBox="1"/>
          <p:nvPr/>
        </p:nvSpPr>
        <p:spPr>
          <a:xfrm>
            <a:off x="8549640" y="2414016"/>
            <a:ext cx="2743200" cy="2926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Contexte pertinent
plutôt que tout charger</a:t>
            </a:r>
          </a:p>
        </p:txBody>
      </p:sp>
      <p:sp>
        <p:nvSpPr>
          <p:cNvPr id="18" name="Rounded Rectangle 17"/>
          <p:cNvSpPr/>
          <p:nvPr/>
        </p:nvSpPr>
        <p:spPr>
          <a:xfrm>
            <a:off x="822960" y="3154680"/>
            <a:ext cx="315468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3154680"/>
            <a:ext cx="73152" cy="1005840"/>
          </a:xfrm>
          <a:prstGeom prst="rect">
            <a:avLst/>
          </a:prstGeom>
          <a:solidFill>
            <a:srgbClr val="CF4F4F"/>
          </a:solidFill>
          <a:ln>
            <a:solidFill>
              <a:srgbClr val="CF4F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37560"/>
            <a:ext cx="27432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Tests + commandes</a:t>
            </a:r>
          </a:p>
        </p:txBody>
      </p:sp>
      <p:sp>
        <p:nvSpPr>
          <p:cNvPr id="21" name="TextBox 20"/>
          <p:cNvSpPr txBox="1"/>
          <p:nvPr/>
        </p:nvSpPr>
        <p:spPr>
          <a:xfrm>
            <a:off x="1051560" y="3739896"/>
            <a:ext cx="2743200" cy="2926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Contexte pertinent
plutôt que tout charger</a:t>
            </a:r>
          </a:p>
        </p:txBody>
      </p:sp>
      <p:sp>
        <p:nvSpPr>
          <p:cNvPr id="22" name="Rounded Rectangle 21"/>
          <p:cNvSpPr/>
          <p:nvPr/>
        </p:nvSpPr>
        <p:spPr>
          <a:xfrm>
            <a:off x="4572000" y="3154680"/>
            <a:ext cx="315468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0" y="3154680"/>
            <a:ext cx="73152" cy="100584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337560"/>
            <a:ext cx="27432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Sécurité + historique utile</a:t>
            </a:r>
          </a:p>
        </p:txBody>
      </p:sp>
      <p:sp>
        <p:nvSpPr>
          <p:cNvPr id="25" name="TextBox 24"/>
          <p:cNvSpPr txBox="1"/>
          <p:nvPr/>
        </p:nvSpPr>
        <p:spPr>
          <a:xfrm>
            <a:off x="4800600" y="3739896"/>
            <a:ext cx="2743200" cy="292608"/>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Contexte pertinent
plutôt que tout charger</a:t>
            </a:r>
          </a:p>
        </p:txBody>
      </p:sp>
      <p:sp>
        <p:nvSpPr>
          <p:cNvPr id="26" name="TextBox 25"/>
          <p:cNvSpPr txBox="1"/>
          <p:nvPr/>
        </p:nvSpPr>
        <p:spPr>
          <a:xfrm>
            <a:off x="914400" y="5029200"/>
            <a:ext cx="10241280" cy="411480"/>
          </a:xfrm>
          <a:prstGeom prst="rect">
            <a:avLst/>
          </a:prstGeom>
          <a:noFill/>
        </p:spPr>
        <p:txBody>
          <a:bodyPr wrap="square" lIns="27432" rIns="27432" tIns="18288" bIns="18288" anchor="t">
            <a:spAutoFit/>
          </a:bodyPr>
          <a:lstStyle/>
          <a:p>
            <a:pPr algn="ctr">
              <a:spcAft>
                <a:spcPts val="0"/>
              </a:spcAft>
            </a:pPr>
            <a:r>
              <a:rPr sz="2200" b="1">
                <a:solidFill>
                  <a:srgbClr val="CF4F4F"/>
                </a:solidFill>
                <a:latin typeface="Aptos"/>
              </a:rPr>
              <a:t>Mauvais contexte → résultat plausible, souvent incorrect.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DÉMO · LECTURE SEULE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Démonstration 1 — découvrir avant d’agir</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06  ·  3 min</a:t>
            </a:r>
          </a:p>
        </p:txBody>
      </p:sp>
      <p:sp>
        <p:nvSpPr>
          <p:cNvPr id="6" name="Rounded Rectangle 5"/>
          <p:cNvSpPr/>
          <p:nvPr/>
        </p:nvSpPr>
        <p:spPr>
          <a:xfrm>
            <a:off x="731520" y="1874519"/>
            <a:ext cx="2468880" cy="16002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74519"/>
            <a:ext cx="73152" cy="16002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57400"/>
            <a:ext cx="205740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Demande</a:t>
            </a:r>
          </a:p>
        </p:txBody>
      </p:sp>
      <p:sp>
        <p:nvSpPr>
          <p:cNvPr id="9" name="TextBox 8"/>
          <p:cNvSpPr txBox="1"/>
          <p:nvPr/>
        </p:nvSpPr>
        <p:spPr>
          <a:xfrm>
            <a:off x="960120" y="2459736"/>
            <a:ext cx="2057400" cy="88696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Explore le dépôt
sans modifier de fichier.</a:t>
            </a:r>
          </a:p>
        </p:txBody>
      </p:sp>
      <p:sp>
        <p:nvSpPr>
          <p:cNvPr id="10" name="Right Arrow 9"/>
          <p:cNvSpPr/>
          <p:nvPr/>
        </p:nvSpPr>
        <p:spPr>
          <a:xfrm>
            <a:off x="3383280" y="2487168"/>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06240" y="1600200"/>
            <a:ext cx="297180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600200"/>
            <a:ext cx="73152" cy="214884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783080"/>
            <a:ext cx="256032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L’agent identifie</a:t>
            </a:r>
          </a:p>
        </p:txBody>
      </p:sp>
      <p:sp>
        <p:nvSpPr>
          <p:cNvPr id="14" name="TextBox 13"/>
          <p:cNvSpPr txBox="1"/>
          <p:nvPr/>
        </p:nvSpPr>
        <p:spPr>
          <a:xfrm>
            <a:off x="4434840" y="2185416"/>
            <a:ext cx="2560320" cy="143560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Structure · point d’entrée
Tests · commandes
Rules · skills</a:t>
            </a:r>
          </a:p>
        </p:txBody>
      </p:sp>
      <p:sp>
        <p:nvSpPr>
          <p:cNvPr id="15" name="Right Arrow 14"/>
          <p:cNvSpPr/>
          <p:nvPr/>
        </p:nvSpPr>
        <p:spPr>
          <a:xfrm>
            <a:off x="7406640" y="2487168"/>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874519"/>
            <a:ext cx="3154680" cy="160020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874519"/>
            <a:ext cx="73152" cy="16002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057400"/>
            <a:ext cx="274320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Preuve</a:t>
            </a:r>
          </a:p>
        </p:txBody>
      </p:sp>
      <p:sp>
        <p:nvSpPr>
          <p:cNvPr id="19" name="TextBox 18"/>
          <p:cNvSpPr txBox="1"/>
          <p:nvPr/>
        </p:nvSpPr>
        <p:spPr>
          <a:xfrm>
            <a:off x="8458200" y="2459736"/>
            <a:ext cx="2743200" cy="886968"/>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Aucun fichier modifié
Le terrain est compris
avant le code.</a:t>
            </a:r>
          </a:p>
        </p:txBody>
      </p:sp>
      <p:sp>
        <p:nvSpPr>
          <p:cNvPr id="20" name="Rounded Rectangle 19"/>
          <p:cNvSpPr/>
          <p:nvPr/>
        </p:nvSpPr>
        <p:spPr>
          <a:xfrm>
            <a:off x="3246120" y="4983480"/>
            <a:ext cx="4846320" cy="347472"/>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9272" y="5047488"/>
            <a:ext cx="4700016" cy="201168"/>
          </a:xfrm>
          <a:prstGeom prst="rect">
            <a:avLst/>
          </a:prstGeom>
          <a:noFill/>
        </p:spPr>
        <p:txBody>
          <a:bodyPr wrap="square" lIns="27432" rIns="27432" tIns="18288" bIns="18288" anchor="t">
            <a:spAutoFit/>
          </a:bodyPr>
          <a:lstStyle/>
          <a:p>
            <a:pPr algn="ctr">
              <a:spcAft>
                <a:spcPts val="0"/>
              </a:spcAft>
            </a:pPr>
            <a:r>
              <a:rPr sz="1100" b="1">
                <a:solidFill>
                  <a:srgbClr val="161F31"/>
                </a:solidFill>
                <a:latin typeface="Aptos"/>
              </a:rPr>
              <a:t>Prompt exact dans docs/demo-prompts.md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RULES</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Les rules : rendre les attentes persistantes</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07  ·  2 min</a:t>
            </a:r>
          </a:p>
        </p:txBody>
      </p:sp>
      <p:sp>
        <p:nvSpPr>
          <p:cNvPr id="6" name="Rounded Rectangle 5"/>
          <p:cNvSpPr/>
          <p:nvPr/>
        </p:nvSpPr>
        <p:spPr>
          <a:xfrm>
            <a:off x="777240" y="1828800"/>
            <a:ext cx="3246120" cy="210312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73152" cy="210312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2834639"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Une rule dit surtout…</a:t>
            </a:r>
          </a:p>
        </p:txBody>
      </p:sp>
      <p:sp>
        <p:nvSpPr>
          <p:cNvPr id="9" name="TextBox 8"/>
          <p:cNvSpPr txBox="1"/>
          <p:nvPr/>
        </p:nvSpPr>
        <p:spPr>
          <a:xfrm>
            <a:off x="1005840" y="2414016"/>
            <a:ext cx="2834639" cy="1389887"/>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Ce qui doit être respecté
architecture · tests · sécurité
format de restitution</a:t>
            </a:r>
          </a:p>
        </p:txBody>
      </p:sp>
      <p:sp>
        <p:nvSpPr>
          <p:cNvPr id="10" name="Right Arrow 9"/>
          <p:cNvSpPr/>
          <p:nvPr/>
        </p:nvSpPr>
        <p:spPr>
          <a:xfrm>
            <a:off x="4251960" y="2651760"/>
            <a:ext cx="685800"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66360" y="1828800"/>
            <a:ext cx="2423160" cy="21031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66360" y="1828800"/>
            <a:ext cx="73152" cy="210312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0" y="2011680"/>
            <a:ext cx="2011679"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Dans le projet</a:t>
            </a:r>
          </a:p>
        </p:txBody>
      </p:sp>
      <p:sp>
        <p:nvSpPr>
          <p:cNvPr id="14" name="TextBox 13"/>
          <p:cNvSpPr txBox="1"/>
          <p:nvPr/>
        </p:nvSpPr>
        <p:spPr>
          <a:xfrm>
            <a:off x="5394960" y="2414016"/>
            <a:ext cx="2011679" cy="1389887"/>
          </a:xfrm>
          <a:prstGeom prst="rect">
            <a:avLst/>
          </a:prstGeom>
          <a:noFill/>
        </p:spPr>
        <p:txBody>
          <a:bodyPr wrap="square" lIns="27432" rIns="27432" tIns="18288" bIns="18288" anchor="t">
            <a:spAutoFit/>
          </a:bodyPr>
          <a:lstStyle/>
          <a:p>
            <a:pPr algn="l">
              <a:spcAft>
                <a:spcPts val="0"/>
              </a:spcAft>
            </a:pPr>
            <a:r>
              <a:rPr sz="1300" b="0">
                <a:solidFill>
                  <a:srgbClr val="5B687C"/>
                </a:solidFill>
                <a:latin typeface="Aptos"/>
              </a:rPr>
              <a:t>kilo.jsonc
→ instructions
→ .kilo/rules/*.md</a:t>
            </a:r>
          </a:p>
        </p:txBody>
      </p:sp>
      <p:sp>
        <p:nvSpPr>
          <p:cNvPr id="15" name="Right Arrow 14"/>
          <p:cNvSpPr/>
          <p:nvPr/>
        </p:nvSpPr>
        <p:spPr>
          <a:xfrm>
            <a:off x="7863840" y="2651760"/>
            <a:ext cx="685800"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78240" y="1828800"/>
            <a:ext cx="2514600" cy="210312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78240" y="1828800"/>
            <a:ext cx="73152" cy="210312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2011680"/>
            <a:ext cx="2103120" cy="274320"/>
          </a:xfrm>
          <a:prstGeom prst="rect">
            <a:avLst/>
          </a:prstGeom>
          <a:noFill/>
        </p:spPr>
        <p:txBody>
          <a:bodyPr wrap="square" lIns="27432" rIns="27432" tIns="18288" bIns="18288" anchor="t">
            <a:spAutoFit/>
          </a:bodyPr>
          <a:lstStyle/>
          <a:p>
            <a:pPr algn="l">
              <a:spcAft>
                <a:spcPts val="0"/>
              </a:spcAft>
            </a:pPr>
            <a:r>
              <a:rPr sz="1400" b="1">
                <a:solidFill>
                  <a:srgbClr val="161F31"/>
                </a:solidFill>
                <a:latin typeface="Aptos"/>
              </a:rPr>
              <a:t>Mais pas un contrôle absolu</a:t>
            </a:r>
          </a:p>
        </p:txBody>
      </p:sp>
      <p:sp>
        <p:nvSpPr>
          <p:cNvPr id="19" name="TextBox 18"/>
          <p:cNvSpPr txBox="1"/>
          <p:nvPr/>
        </p:nvSpPr>
        <p:spPr>
          <a:xfrm>
            <a:off x="9006840" y="2414016"/>
            <a:ext cx="2103120" cy="1389887"/>
          </a:xfrm>
          <a:prstGeom prst="rect">
            <a:avLst/>
          </a:prstGeom>
          <a:noFill/>
        </p:spPr>
        <p:txBody>
          <a:bodyPr wrap="square" lIns="27432" rIns="27432" tIns="18288" bIns="18288" anchor="t">
            <a:spAutoFit/>
          </a:bodyPr>
          <a:lstStyle/>
          <a:p>
            <a:pPr algn="l">
              <a:spcAft>
                <a:spcPts val="0"/>
              </a:spcAft>
            </a:pPr>
            <a:r>
              <a:rPr sz="1200" b="0">
                <a:solidFill>
                  <a:srgbClr val="5B687C"/>
                </a:solidFill>
                <a:latin typeface="Aptos"/>
              </a:rPr>
              <a:t>Best effort du modèle
Permissions · CI · tests
Revue humaine</a:t>
            </a:r>
          </a:p>
        </p:txBody>
      </p:sp>
      <p:sp>
        <p:nvSpPr>
          <p:cNvPr id="20" name="TextBox 19"/>
          <p:cNvSpPr txBox="1"/>
          <p:nvPr/>
        </p:nvSpPr>
        <p:spPr>
          <a:xfrm>
            <a:off x="1965960" y="4983480"/>
            <a:ext cx="8229600" cy="365760"/>
          </a:xfrm>
          <a:prstGeom prst="rect">
            <a:avLst/>
          </a:prstGeom>
          <a:noFill/>
        </p:spPr>
        <p:txBody>
          <a:bodyPr wrap="square" lIns="27432" rIns="27432" tIns="18288" bIns="18288" anchor="t">
            <a:spAutoFit/>
          </a:bodyPr>
          <a:lstStyle/>
          <a:p>
            <a:pPr algn="ctr">
              <a:spcAft>
                <a:spcPts val="0"/>
              </a:spcAft>
            </a:pPr>
            <a:r>
              <a:rPr sz="2200" b="1">
                <a:solidFill>
                  <a:srgbClr val="12223C"/>
                </a:solidFill>
                <a:latin typeface="Aptos"/>
              </a:rPr>
              <a:t>Lisible · auditable · persistant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COMPARAISON</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Sans rules / avec rules</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08  ·  2 min</a:t>
            </a:r>
          </a:p>
        </p:txBody>
      </p:sp>
      <p:sp>
        <p:nvSpPr>
          <p:cNvPr id="6" name="Rounded Rectangle 5"/>
          <p:cNvSpPr/>
          <p:nvPr/>
        </p:nvSpPr>
        <p:spPr>
          <a:xfrm>
            <a:off x="822960" y="1783080"/>
            <a:ext cx="4389120" cy="27432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783080"/>
            <a:ext cx="73152" cy="2743200"/>
          </a:xfrm>
          <a:prstGeom prst="rect">
            <a:avLst/>
          </a:prstGeom>
          <a:solidFill>
            <a:srgbClr val="5B687C"/>
          </a:solidFill>
          <a:ln>
            <a:solidFill>
              <a:srgbClr val="5B6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3977639" cy="274320"/>
          </a:xfrm>
          <a:prstGeom prst="rect">
            <a:avLst/>
          </a:prstGeom>
          <a:noFill/>
        </p:spPr>
        <p:txBody>
          <a:bodyPr wrap="square" lIns="27432" rIns="27432" tIns="18288" bIns="18288" anchor="t">
            <a:spAutoFit/>
          </a:bodyPr>
          <a:lstStyle/>
          <a:p>
            <a:pPr algn="l">
              <a:spcAft>
                <a:spcPts val="0"/>
              </a:spcAft>
            </a:pPr>
            <a:r>
              <a:rPr sz="1900" b="1">
                <a:solidFill>
                  <a:srgbClr val="161F31"/>
                </a:solidFill>
                <a:latin typeface="Aptos"/>
              </a:rPr>
              <a:t>Sans rules</a:t>
            </a:r>
          </a:p>
        </p:txBody>
      </p:sp>
      <p:sp>
        <p:nvSpPr>
          <p:cNvPr id="9" name="TextBox 8"/>
          <p:cNvSpPr txBox="1"/>
          <p:nvPr/>
        </p:nvSpPr>
        <p:spPr>
          <a:xfrm>
            <a:off x="1051560" y="2368296"/>
            <a:ext cx="3977639" cy="2029967"/>
          </a:xfrm>
          <a:prstGeom prst="rect">
            <a:avLst/>
          </a:prstGeom>
          <a:noFill/>
        </p:spPr>
        <p:txBody>
          <a:bodyPr wrap="square" lIns="27432" rIns="27432" tIns="18288" bIns="18288" anchor="t">
            <a:spAutoFit/>
          </a:bodyPr>
          <a:lstStyle/>
          <a:p>
            <a:pPr algn="l">
              <a:spcAft>
                <a:spcPts val="0"/>
              </a:spcAft>
            </a:pPr>
            <a:r>
              <a:rPr sz="1600" b="0">
                <a:solidFill>
                  <a:srgbClr val="5B687C"/>
                </a:solidFill>
                <a:latin typeface="Aptos"/>
              </a:rPr>
              <a:t>Ajouter status
Filtrer
Ajouter quelques tests
→ ambiguïtés non résolues</a:t>
            </a:r>
          </a:p>
        </p:txBody>
      </p:sp>
      <p:sp>
        <p:nvSpPr>
          <p:cNvPr id="10" name="Rounded Rectangle 9"/>
          <p:cNvSpPr/>
          <p:nvPr/>
        </p:nvSpPr>
        <p:spPr>
          <a:xfrm>
            <a:off x="6400800" y="1783080"/>
            <a:ext cx="4389120" cy="27432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783080"/>
            <a:ext cx="73152" cy="27432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965960"/>
            <a:ext cx="3977639" cy="274320"/>
          </a:xfrm>
          <a:prstGeom prst="rect">
            <a:avLst/>
          </a:prstGeom>
          <a:noFill/>
        </p:spPr>
        <p:txBody>
          <a:bodyPr wrap="square" lIns="27432" rIns="27432" tIns="18288" bIns="18288" anchor="t">
            <a:spAutoFit/>
          </a:bodyPr>
          <a:lstStyle/>
          <a:p>
            <a:pPr algn="l">
              <a:spcAft>
                <a:spcPts val="0"/>
              </a:spcAft>
            </a:pPr>
            <a:r>
              <a:rPr sz="1900" b="1">
                <a:solidFill>
                  <a:srgbClr val="161F31"/>
                </a:solidFill>
                <a:latin typeface="Aptos"/>
              </a:rPr>
              <a:t>Avec rules</a:t>
            </a:r>
          </a:p>
        </p:txBody>
      </p:sp>
      <p:sp>
        <p:nvSpPr>
          <p:cNvPr id="13" name="TextBox 12"/>
          <p:cNvSpPr txBox="1"/>
          <p:nvPr/>
        </p:nvSpPr>
        <p:spPr>
          <a:xfrm>
            <a:off x="6629400" y="2368296"/>
            <a:ext cx="3977639" cy="2029967"/>
          </a:xfrm>
          <a:prstGeom prst="rect">
            <a:avLst/>
          </a:prstGeom>
          <a:noFill/>
        </p:spPr>
        <p:txBody>
          <a:bodyPr wrap="square" lIns="27432" rIns="27432" tIns="18288" bIns="18288" anchor="t">
            <a:spAutoFit/>
          </a:bodyPr>
          <a:lstStyle/>
          <a:p>
            <a:pPr algn="l">
              <a:spcAft>
                <a:spcPts val="0"/>
              </a:spcAft>
            </a:pPr>
            <a:r>
              <a:rPr sz="1600" b="0">
                <a:solidFill>
                  <a:srgbClr val="5B687C"/>
                </a:solidFill>
                <a:latin typeface="Aptos"/>
              </a:rPr>
              <a:t>Fichiers ciblés
Type fermé
Tests : nominal + 422
make check + diff
→ comportement reproductible</a:t>
            </a:r>
          </a:p>
        </p:txBody>
      </p:sp>
      <p:sp>
        <p:nvSpPr>
          <p:cNvPr id="14" name="TextBox 13"/>
          <p:cNvSpPr txBox="1"/>
          <p:nvPr/>
        </p:nvSpPr>
        <p:spPr>
          <a:xfrm>
            <a:off x="1005840" y="5166360"/>
            <a:ext cx="9966960" cy="384048"/>
          </a:xfrm>
          <a:prstGeom prst="rect">
            <a:avLst/>
          </a:prstGeom>
          <a:noFill/>
        </p:spPr>
        <p:txBody>
          <a:bodyPr wrap="square" lIns="27432" rIns="27432" tIns="18288" bIns="18288" anchor="t">
            <a:spAutoFit/>
          </a:bodyPr>
          <a:lstStyle/>
          <a:p>
            <a:pPr algn="ctr">
              <a:spcAft>
                <a:spcPts val="0"/>
              </a:spcAft>
            </a:pPr>
            <a:r>
              <a:rPr sz="1900" b="1">
                <a:solidFill>
                  <a:srgbClr val="12223C"/>
                </a:solidFill>
                <a:latin typeface="Aptos"/>
              </a:rPr>
              <a:t>On compare des plans, pas deux implémentations complètes.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SKILLS</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Les skills : encapsuler une méthode</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09  ·  2 min</a:t>
            </a:r>
          </a:p>
        </p:txBody>
      </p:sp>
      <p:sp>
        <p:nvSpPr>
          <p:cNvPr id="6" name="Rounded Rectangle 5"/>
          <p:cNvSpPr/>
          <p:nvPr/>
        </p:nvSpPr>
        <p:spPr>
          <a:xfrm>
            <a:off x="822960" y="1874519"/>
            <a:ext cx="2971800" cy="192024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874519"/>
            <a:ext cx="73152" cy="192024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57400"/>
            <a:ext cx="2560320" cy="274320"/>
          </a:xfrm>
          <a:prstGeom prst="rect">
            <a:avLst/>
          </a:prstGeom>
          <a:noFill/>
        </p:spPr>
        <p:txBody>
          <a:bodyPr wrap="square" lIns="27432" rIns="27432" tIns="18288" bIns="18288" anchor="t">
            <a:spAutoFit/>
          </a:bodyPr>
          <a:lstStyle/>
          <a:p>
            <a:pPr algn="l">
              <a:spcAft>
                <a:spcPts val="0"/>
              </a:spcAft>
            </a:pPr>
            <a:r>
              <a:rPr sz="1900" b="1">
                <a:solidFill>
                  <a:srgbClr val="161F31"/>
                </a:solidFill>
                <a:latin typeface="Aptos"/>
              </a:rPr>
              <a:t>Rule</a:t>
            </a:r>
          </a:p>
        </p:txBody>
      </p:sp>
      <p:sp>
        <p:nvSpPr>
          <p:cNvPr id="9" name="TextBox 8"/>
          <p:cNvSpPr txBox="1"/>
          <p:nvPr/>
        </p:nvSpPr>
        <p:spPr>
          <a:xfrm>
            <a:off x="1051560" y="2459736"/>
            <a:ext cx="2560320" cy="1207008"/>
          </a:xfrm>
          <a:prstGeom prst="rect">
            <a:avLst/>
          </a:prstGeom>
          <a:noFill/>
        </p:spPr>
        <p:txBody>
          <a:bodyPr wrap="square" lIns="27432" rIns="27432" tIns="18288" bIns="18288" anchor="t">
            <a:spAutoFit/>
          </a:bodyPr>
          <a:lstStyle/>
          <a:p>
            <a:pPr algn="l">
              <a:spcAft>
                <a:spcPts val="0"/>
              </a:spcAft>
            </a:pPr>
            <a:r>
              <a:rPr sz="1600" b="0">
                <a:solidFill>
                  <a:srgbClr val="5B687C"/>
                </a:solidFill>
                <a:latin typeface="Aptos"/>
              </a:rPr>
              <a:t>Contraintes durables
« respecte ceci »</a:t>
            </a:r>
          </a:p>
        </p:txBody>
      </p:sp>
      <p:sp>
        <p:nvSpPr>
          <p:cNvPr id="10" name="Right Arrow 9"/>
          <p:cNvSpPr/>
          <p:nvPr/>
        </p:nvSpPr>
        <p:spPr>
          <a:xfrm>
            <a:off x="4069080" y="2560320"/>
            <a:ext cx="640080"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00600" y="1874519"/>
            <a:ext cx="2971800" cy="192024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00600" y="1874519"/>
            <a:ext cx="73152" cy="192024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2057400"/>
            <a:ext cx="2560320" cy="274320"/>
          </a:xfrm>
          <a:prstGeom prst="rect">
            <a:avLst/>
          </a:prstGeom>
          <a:noFill/>
        </p:spPr>
        <p:txBody>
          <a:bodyPr wrap="square" lIns="27432" rIns="27432" tIns="18288" bIns="18288" anchor="t">
            <a:spAutoFit/>
          </a:bodyPr>
          <a:lstStyle/>
          <a:p>
            <a:pPr algn="l">
              <a:spcAft>
                <a:spcPts val="0"/>
              </a:spcAft>
            </a:pPr>
            <a:r>
              <a:rPr sz="1900" b="1">
                <a:solidFill>
                  <a:srgbClr val="161F31"/>
                </a:solidFill>
                <a:latin typeface="Aptos"/>
              </a:rPr>
              <a:t>Skill</a:t>
            </a:r>
          </a:p>
        </p:txBody>
      </p:sp>
      <p:sp>
        <p:nvSpPr>
          <p:cNvPr id="14" name="TextBox 13"/>
          <p:cNvSpPr txBox="1"/>
          <p:nvPr/>
        </p:nvSpPr>
        <p:spPr>
          <a:xfrm>
            <a:off x="5029200" y="2459736"/>
            <a:ext cx="2560320" cy="1207008"/>
          </a:xfrm>
          <a:prstGeom prst="rect">
            <a:avLst/>
          </a:prstGeom>
          <a:noFill/>
        </p:spPr>
        <p:txBody>
          <a:bodyPr wrap="square" lIns="27432" rIns="27432" tIns="18288" bIns="18288" anchor="t">
            <a:spAutoFit/>
          </a:bodyPr>
          <a:lstStyle/>
          <a:p>
            <a:pPr algn="l">
              <a:spcAft>
                <a:spcPts val="0"/>
              </a:spcAft>
            </a:pPr>
            <a:r>
              <a:rPr sz="1600" b="0">
                <a:solidFill>
                  <a:srgbClr val="5B687C"/>
                </a:solidFill>
                <a:latin typeface="Aptos"/>
              </a:rPr>
              <a:t>Procédure réutilisable
« fais cela ainsi »</a:t>
            </a:r>
          </a:p>
        </p:txBody>
      </p:sp>
      <p:sp>
        <p:nvSpPr>
          <p:cNvPr id="15" name="Right Arrow 14"/>
          <p:cNvSpPr/>
          <p:nvPr/>
        </p:nvSpPr>
        <p:spPr>
          <a:xfrm>
            <a:off x="8046720" y="2560320"/>
            <a:ext cx="640080"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78240" y="1874519"/>
            <a:ext cx="2514600" cy="192024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78240" y="1874519"/>
            <a:ext cx="73152" cy="192024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2057400"/>
            <a:ext cx="2103120"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Résultat</a:t>
            </a:r>
          </a:p>
        </p:txBody>
      </p:sp>
      <p:sp>
        <p:nvSpPr>
          <p:cNvPr id="19" name="TextBox 18"/>
          <p:cNvSpPr txBox="1"/>
          <p:nvPr/>
        </p:nvSpPr>
        <p:spPr>
          <a:xfrm>
            <a:off x="9006840" y="2459736"/>
            <a:ext cx="2103120" cy="1207008"/>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Méthode répétable
plan · implement · review</a:t>
            </a:r>
          </a:p>
        </p:txBody>
      </p:sp>
      <p:sp>
        <p:nvSpPr>
          <p:cNvPr id="20" name="TextBox 19"/>
          <p:cNvSpPr txBox="1"/>
          <p:nvPr/>
        </p:nvSpPr>
        <p:spPr>
          <a:xfrm>
            <a:off x="2011680" y="4937760"/>
            <a:ext cx="7955279" cy="411480"/>
          </a:xfrm>
          <a:prstGeom prst="rect">
            <a:avLst/>
          </a:prstGeom>
          <a:noFill/>
        </p:spPr>
        <p:txBody>
          <a:bodyPr wrap="square" lIns="27432" rIns="27432" tIns="18288" bIns="18288" anchor="t">
            <a:spAutoFit/>
          </a:bodyPr>
          <a:lstStyle/>
          <a:p>
            <a:pPr algn="ctr">
              <a:spcAft>
                <a:spcPts val="0"/>
              </a:spcAft>
            </a:pPr>
            <a:r>
              <a:rPr sz="2300" b="1">
                <a:solidFill>
                  <a:srgbClr val="12223C"/>
                </a:solidFill>
                <a:latin typeface="Aptos"/>
              </a:rPr>
              <a:t>.kilo/skills/&lt;nom&gt;/SKILL.md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DÉMO · APPROBATION</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Démonstration 2 — planifier avec un skill</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10  ·  4 min</a:t>
            </a:r>
          </a:p>
        </p:txBody>
      </p:sp>
      <p:sp>
        <p:nvSpPr>
          <p:cNvPr id="6" name="Rounded Rectangle 5"/>
          <p:cNvSpPr/>
          <p:nvPr/>
        </p:nvSpPr>
        <p:spPr>
          <a:xfrm>
            <a:off x="777240" y="1828800"/>
            <a:ext cx="2834640" cy="18288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73152" cy="18288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242316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Demande</a:t>
            </a:r>
          </a:p>
        </p:txBody>
      </p:sp>
      <p:sp>
        <p:nvSpPr>
          <p:cNvPr id="9" name="TextBox 8"/>
          <p:cNvSpPr txBox="1"/>
          <p:nvPr/>
        </p:nvSpPr>
        <p:spPr>
          <a:xfrm>
            <a:off x="1005840" y="2414016"/>
            <a:ext cx="2423160" cy="11155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Ajouter un filtre optionnel
`status` sur `GET /tasks`</a:t>
            </a:r>
          </a:p>
        </p:txBody>
      </p:sp>
      <p:sp>
        <p:nvSpPr>
          <p:cNvPr id="10" name="Right Arrow 9"/>
          <p:cNvSpPr/>
          <p:nvPr/>
        </p:nvSpPr>
        <p:spPr>
          <a:xfrm>
            <a:off x="3794760" y="2578608"/>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1554480"/>
            <a:ext cx="3246120" cy="2377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1554480"/>
            <a:ext cx="73152" cy="237744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737360"/>
            <a:ext cx="2834639" cy="274320"/>
          </a:xfrm>
          <a:prstGeom prst="rect">
            <a:avLst/>
          </a:prstGeom>
          <a:noFill/>
        </p:spPr>
        <p:txBody>
          <a:bodyPr wrap="square" lIns="27432" rIns="27432" tIns="18288" bIns="18288" anchor="t">
            <a:spAutoFit/>
          </a:bodyPr>
          <a:lstStyle/>
          <a:p>
            <a:pPr algn="l">
              <a:spcAft>
                <a:spcPts val="0"/>
              </a:spcAft>
            </a:pPr>
            <a:r>
              <a:rPr sz="1600" b="1">
                <a:solidFill>
                  <a:srgbClr val="161F31"/>
                </a:solidFill>
                <a:latin typeface="Aptos"/>
              </a:rPr>
              <a:t>plan-change</a:t>
            </a:r>
          </a:p>
        </p:txBody>
      </p:sp>
      <p:sp>
        <p:nvSpPr>
          <p:cNvPr id="14" name="TextBox 13"/>
          <p:cNvSpPr txBox="1"/>
          <p:nvPr/>
        </p:nvSpPr>
        <p:spPr>
          <a:xfrm>
            <a:off x="4846320" y="2139696"/>
            <a:ext cx="2834639" cy="1664208"/>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Lit code + rules + tests
Reformule les critères
Propose fichiers + tests + risques</a:t>
            </a:r>
          </a:p>
        </p:txBody>
      </p:sp>
      <p:sp>
        <p:nvSpPr>
          <p:cNvPr id="15" name="Right Arrow 14"/>
          <p:cNvSpPr/>
          <p:nvPr/>
        </p:nvSpPr>
        <p:spPr>
          <a:xfrm>
            <a:off x="8046720" y="2578608"/>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869680" y="1828800"/>
            <a:ext cx="2423160" cy="182880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1828800"/>
            <a:ext cx="73152" cy="182880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2011680"/>
            <a:ext cx="2011679" cy="274320"/>
          </a:xfrm>
          <a:prstGeom prst="rect">
            <a:avLst/>
          </a:prstGeom>
          <a:noFill/>
        </p:spPr>
        <p:txBody>
          <a:bodyPr wrap="square" lIns="27432" rIns="27432" tIns="18288" bIns="18288" anchor="t">
            <a:spAutoFit/>
          </a:bodyPr>
          <a:lstStyle/>
          <a:p>
            <a:pPr algn="l">
              <a:spcAft>
                <a:spcPts val="0"/>
              </a:spcAft>
            </a:pPr>
            <a:r>
              <a:rPr sz="1900" b="1">
                <a:solidFill>
                  <a:srgbClr val="161F31"/>
                </a:solidFill>
                <a:latin typeface="Aptos"/>
              </a:rPr>
              <a:t>STOP</a:t>
            </a:r>
          </a:p>
        </p:txBody>
      </p:sp>
      <p:sp>
        <p:nvSpPr>
          <p:cNvPr id="19" name="TextBox 18"/>
          <p:cNvSpPr txBox="1"/>
          <p:nvPr/>
        </p:nvSpPr>
        <p:spPr>
          <a:xfrm>
            <a:off x="9098280" y="2414016"/>
            <a:ext cx="2011679" cy="11155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Approbation humaine
avant toute écriture</a:t>
            </a:r>
          </a:p>
        </p:txBody>
      </p:sp>
      <p:sp>
        <p:nvSpPr>
          <p:cNvPr id="20" name="TextBox 19"/>
          <p:cNvSpPr txBox="1"/>
          <p:nvPr/>
        </p:nvSpPr>
        <p:spPr>
          <a:xfrm>
            <a:off x="914400" y="4937760"/>
            <a:ext cx="10332720" cy="438912"/>
          </a:xfrm>
          <a:prstGeom prst="rect">
            <a:avLst/>
          </a:prstGeom>
          <a:noFill/>
        </p:spPr>
        <p:txBody>
          <a:bodyPr wrap="square" lIns="27432" rIns="27432" tIns="18288" bIns="18288" anchor="t">
            <a:spAutoFit/>
          </a:bodyPr>
          <a:lstStyle/>
          <a:p>
            <a:pPr algn="ctr">
              <a:spcAft>
                <a:spcPts val="0"/>
              </a:spcAft>
            </a:pPr>
            <a:r>
              <a:rPr sz="2100" b="1">
                <a:solidFill>
                  <a:srgbClr val="12223C"/>
                </a:solidFill>
                <a:latin typeface="Aptos"/>
              </a:rPr>
              <a:t>Le plan n’est pas une formalité : c’est le garde-fou le moins coûteux.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DÉMO · HARNAIS</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Démonstration 3 — implémenter et vérifier</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11  ·  5 min</a:t>
            </a:r>
          </a:p>
        </p:txBody>
      </p:sp>
      <p:sp>
        <p:nvSpPr>
          <p:cNvPr id="6" name="Rounded Rectangle 5"/>
          <p:cNvSpPr/>
          <p:nvPr/>
        </p:nvSpPr>
        <p:spPr>
          <a:xfrm>
            <a:off x="822960" y="1783080"/>
            <a:ext cx="3154680" cy="18288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783080"/>
            <a:ext cx="73152" cy="18288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274320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1  Implémenter</a:t>
            </a:r>
          </a:p>
        </p:txBody>
      </p:sp>
      <p:sp>
        <p:nvSpPr>
          <p:cNvPr id="9" name="TextBox 8"/>
          <p:cNvSpPr txBox="1"/>
          <p:nvPr/>
        </p:nvSpPr>
        <p:spPr>
          <a:xfrm>
            <a:off x="1051560" y="2368296"/>
            <a:ext cx="2743200" cy="11155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Filtre minimal
Périmètre approuvé</a:t>
            </a:r>
          </a:p>
        </p:txBody>
      </p:sp>
      <p:sp>
        <p:nvSpPr>
          <p:cNvPr id="10" name="Right Arrow 9"/>
          <p:cNvSpPr/>
          <p:nvPr/>
        </p:nvSpPr>
        <p:spPr>
          <a:xfrm>
            <a:off x="4069080" y="2560320"/>
            <a:ext cx="29260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1783080"/>
            <a:ext cx="3154680" cy="182880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73152" cy="18288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965960"/>
            <a:ext cx="274320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2  Tester</a:t>
            </a:r>
          </a:p>
        </p:txBody>
      </p:sp>
      <p:sp>
        <p:nvSpPr>
          <p:cNvPr id="14" name="TextBox 13"/>
          <p:cNvSpPr txBox="1"/>
          <p:nvPr/>
        </p:nvSpPr>
        <p:spPr>
          <a:xfrm>
            <a:off x="4800600" y="2368296"/>
            <a:ext cx="2743200" cy="11155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Sans filtre
valide · invalide 422</a:t>
            </a:r>
          </a:p>
        </p:txBody>
      </p:sp>
      <p:sp>
        <p:nvSpPr>
          <p:cNvPr id="15" name="Right Arrow 14"/>
          <p:cNvSpPr/>
          <p:nvPr/>
        </p:nvSpPr>
        <p:spPr>
          <a:xfrm>
            <a:off x="7818120" y="2560320"/>
            <a:ext cx="292608" cy="219456"/>
          </a:xfrm>
          <a:prstGeom prst="rightArrow">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21040" y="1783080"/>
            <a:ext cx="3154680" cy="182880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1783080"/>
            <a:ext cx="73152" cy="182880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9640" y="1965960"/>
            <a:ext cx="274320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3  Relire</a:t>
            </a:r>
          </a:p>
        </p:txBody>
      </p:sp>
      <p:sp>
        <p:nvSpPr>
          <p:cNvPr id="19" name="TextBox 18"/>
          <p:cNvSpPr txBox="1"/>
          <p:nvPr/>
        </p:nvSpPr>
        <p:spPr>
          <a:xfrm>
            <a:off x="8549640" y="2368296"/>
            <a:ext cx="2743200" cy="11155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Diff final
risques · scope drift</a:t>
            </a:r>
          </a:p>
        </p:txBody>
      </p:sp>
      <p:sp>
        <p:nvSpPr>
          <p:cNvPr id="20" name="Rounded Rectangle 19"/>
          <p:cNvSpPr/>
          <p:nvPr/>
        </p:nvSpPr>
        <p:spPr>
          <a:xfrm>
            <a:off x="4572000" y="4434840"/>
            <a:ext cx="3017520" cy="347472"/>
          </a:xfrm>
          <a:prstGeom prst="roundRect">
            <a:avLst/>
          </a:prstGeom>
          <a:solidFill>
            <a:srgbClr val="12223C"/>
          </a:solidFill>
          <a:ln>
            <a:solidFill>
              <a:srgbClr val="122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2" y="4498848"/>
            <a:ext cx="2871215" cy="201168"/>
          </a:xfrm>
          <a:prstGeom prst="rect">
            <a:avLst/>
          </a:prstGeom>
          <a:noFill/>
        </p:spPr>
        <p:txBody>
          <a:bodyPr wrap="square" lIns="27432" rIns="27432" tIns="18288" bIns="18288" anchor="t">
            <a:spAutoFit/>
          </a:bodyPr>
          <a:lstStyle/>
          <a:p>
            <a:pPr algn="ctr">
              <a:spcAft>
                <a:spcPts val="0"/>
              </a:spcAft>
            </a:pPr>
            <a:r>
              <a:rPr sz="1100" b="1">
                <a:solidFill>
                  <a:srgbClr val="FFFFFF"/>
                </a:solidFill>
                <a:latin typeface="Aptos"/>
              </a:rPr>
              <a:t>make check</a:t>
            </a:r>
          </a:p>
        </p:txBody>
      </p:sp>
      <p:sp>
        <p:nvSpPr>
          <p:cNvPr id="22" name="TextBox 21"/>
          <p:cNvSpPr txBox="1"/>
          <p:nvPr/>
        </p:nvSpPr>
        <p:spPr>
          <a:xfrm>
            <a:off x="960120" y="5102352"/>
            <a:ext cx="10149840" cy="457200"/>
          </a:xfrm>
          <a:prstGeom prst="rect">
            <a:avLst/>
          </a:prstGeom>
          <a:noFill/>
        </p:spPr>
        <p:txBody>
          <a:bodyPr wrap="square" lIns="27432" rIns="27432" tIns="18288" bIns="18288" anchor="t">
            <a:spAutoFit/>
          </a:bodyPr>
          <a:lstStyle/>
          <a:p>
            <a:pPr algn="ctr">
              <a:spcAft>
                <a:spcPts val="0"/>
              </a:spcAft>
            </a:pPr>
            <a:r>
              <a:rPr sz="1900" b="1">
                <a:solidFill>
                  <a:srgbClr val="12223C"/>
                </a:solidFill>
                <a:latin typeface="Aptos"/>
              </a:rPr>
              <a:t>Accepté parce que les contrôles sont verts — pas parce que l’agent dit « terminé ».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CONTRÔLES</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Le harnais : rendre l’agent vérifiable</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12  ·  3 min</a:t>
            </a:r>
          </a:p>
        </p:txBody>
      </p:sp>
      <p:sp>
        <p:nvSpPr>
          <p:cNvPr id="6" name="Rounded Rectangle 5"/>
          <p:cNvSpPr/>
          <p:nvPr/>
        </p:nvSpPr>
        <p:spPr>
          <a:xfrm>
            <a:off x="685800" y="1783080"/>
            <a:ext cx="224028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73152" cy="914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1</a:t>
            </a:r>
          </a:p>
        </p:txBody>
      </p:sp>
      <p:sp>
        <p:nvSpPr>
          <p:cNvPr id="9" name="TextBox 8"/>
          <p:cNvSpPr txBox="1"/>
          <p:nvPr/>
        </p:nvSpPr>
        <p:spPr>
          <a:xfrm>
            <a:off x="914400" y="236829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Contexte</a:t>
            </a:r>
          </a:p>
        </p:txBody>
      </p:sp>
      <p:sp>
        <p:nvSpPr>
          <p:cNvPr id="10" name="Rounded Rectangle 9"/>
          <p:cNvSpPr/>
          <p:nvPr/>
        </p:nvSpPr>
        <p:spPr>
          <a:xfrm>
            <a:off x="3520440" y="1783080"/>
            <a:ext cx="224028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783080"/>
            <a:ext cx="73152" cy="914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196596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2</a:t>
            </a:r>
          </a:p>
        </p:txBody>
      </p:sp>
      <p:sp>
        <p:nvSpPr>
          <p:cNvPr id="13" name="TextBox 12"/>
          <p:cNvSpPr txBox="1"/>
          <p:nvPr/>
        </p:nvSpPr>
        <p:spPr>
          <a:xfrm>
            <a:off x="3749039" y="236829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Rules</a:t>
            </a:r>
          </a:p>
        </p:txBody>
      </p:sp>
      <p:sp>
        <p:nvSpPr>
          <p:cNvPr id="14" name="Rounded Rectangle 13"/>
          <p:cNvSpPr/>
          <p:nvPr/>
        </p:nvSpPr>
        <p:spPr>
          <a:xfrm>
            <a:off x="6355080" y="1783080"/>
            <a:ext cx="224028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1783080"/>
            <a:ext cx="73152" cy="914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6596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3</a:t>
            </a:r>
          </a:p>
        </p:txBody>
      </p:sp>
      <p:sp>
        <p:nvSpPr>
          <p:cNvPr id="17" name="TextBox 16"/>
          <p:cNvSpPr txBox="1"/>
          <p:nvPr/>
        </p:nvSpPr>
        <p:spPr>
          <a:xfrm>
            <a:off x="6583680" y="236829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Outils</a:t>
            </a:r>
          </a:p>
        </p:txBody>
      </p:sp>
      <p:sp>
        <p:nvSpPr>
          <p:cNvPr id="18" name="Rounded Rectangle 17"/>
          <p:cNvSpPr/>
          <p:nvPr/>
        </p:nvSpPr>
        <p:spPr>
          <a:xfrm>
            <a:off x="9189720" y="1783080"/>
            <a:ext cx="2240280" cy="9144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89720" y="1783080"/>
            <a:ext cx="73152" cy="9144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0" y="196596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4</a:t>
            </a:r>
          </a:p>
        </p:txBody>
      </p:sp>
      <p:sp>
        <p:nvSpPr>
          <p:cNvPr id="21" name="TextBox 20"/>
          <p:cNvSpPr txBox="1"/>
          <p:nvPr/>
        </p:nvSpPr>
        <p:spPr>
          <a:xfrm>
            <a:off x="9418320" y="236829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Tests</a:t>
            </a:r>
          </a:p>
        </p:txBody>
      </p:sp>
      <p:sp>
        <p:nvSpPr>
          <p:cNvPr id="22" name="Rounded Rectangle 21"/>
          <p:cNvSpPr/>
          <p:nvPr/>
        </p:nvSpPr>
        <p:spPr>
          <a:xfrm>
            <a:off x="685800" y="3108960"/>
            <a:ext cx="224028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3108960"/>
            <a:ext cx="73152" cy="914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29184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5</a:t>
            </a:r>
          </a:p>
        </p:txBody>
      </p:sp>
      <p:sp>
        <p:nvSpPr>
          <p:cNvPr id="25" name="TextBox 24"/>
          <p:cNvSpPr txBox="1"/>
          <p:nvPr/>
        </p:nvSpPr>
        <p:spPr>
          <a:xfrm>
            <a:off x="914400" y="369417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Lint / types</a:t>
            </a:r>
          </a:p>
        </p:txBody>
      </p:sp>
      <p:sp>
        <p:nvSpPr>
          <p:cNvPr id="26" name="Rounded Rectangle 25"/>
          <p:cNvSpPr/>
          <p:nvPr/>
        </p:nvSpPr>
        <p:spPr>
          <a:xfrm>
            <a:off x="3520440" y="3108960"/>
            <a:ext cx="2240280" cy="914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20440" y="3108960"/>
            <a:ext cx="73152" cy="914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49039" y="329184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6</a:t>
            </a:r>
          </a:p>
        </p:txBody>
      </p:sp>
      <p:sp>
        <p:nvSpPr>
          <p:cNvPr id="29" name="TextBox 28"/>
          <p:cNvSpPr txBox="1"/>
          <p:nvPr/>
        </p:nvSpPr>
        <p:spPr>
          <a:xfrm>
            <a:off x="3749039" y="369417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CI</a:t>
            </a:r>
          </a:p>
        </p:txBody>
      </p:sp>
      <p:sp>
        <p:nvSpPr>
          <p:cNvPr id="30" name="Rounded Rectangle 29"/>
          <p:cNvSpPr/>
          <p:nvPr/>
        </p:nvSpPr>
        <p:spPr>
          <a:xfrm>
            <a:off x="6355080" y="3108960"/>
            <a:ext cx="2240280" cy="9144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55080" y="3108960"/>
            <a:ext cx="73152" cy="9144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3291840"/>
            <a:ext cx="1828800" cy="274320"/>
          </a:xfrm>
          <a:prstGeom prst="rect">
            <a:avLst/>
          </a:prstGeom>
          <a:noFill/>
        </p:spPr>
        <p:txBody>
          <a:bodyPr wrap="square" lIns="27432" rIns="27432" tIns="18288" bIns="18288" anchor="t">
            <a:spAutoFit/>
          </a:bodyPr>
          <a:lstStyle/>
          <a:p>
            <a:pPr algn="l">
              <a:spcAft>
                <a:spcPts val="0"/>
              </a:spcAft>
            </a:pPr>
            <a:r>
              <a:rPr sz="1500" b="1">
                <a:solidFill>
                  <a:srgbClr val="161F31"/>
                </a:solidFill>
                <a:latin typeface="Aptos"/>
              </a:rPr>
              <a:t>7</a:t>
            </a:r>
          </a:p>
        </p:txBody>
      </p:sp>
      <p:sp>
        <p:nvSpPr>
          <p:cNvPr id="33" name="TextBox 32"/>
          <p:cNvSpPr txBox="1"/>
          <p:nvPr/>
        </p:nvSpPr>
        <p:spPr>
          <a:xfrm>
            <a:off x="6583680" y="3694176"/>
            <a:ext cx="1828800" cy="201167"/>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Diff / permissions</a:t>
            </a:r>
          </a:p>
        </p:txBody>
      </p:sp>
      <p:sp>
        <p:nvSpPr>
          <p:cNvPr id="34" name="TextBox 33"/>
          <p:cNvSpPr txBox="1"/>
          <p:nvPr/>
        </p:nvSpPr>
        <p:spPr>
          <a:xfrm>
            <a:off x="914400" y="4983480"/>
            <a:ext cx="10287000" cy="457200"/>
          </a:xfrm>
          <a:prstGeom prst="rect">
            <a:avLst/>
          </a:prstGeom>
          <a:noFill/>
        </p:spPr>
        <p:txBody>
          <a:bodyPr wrap="square" lIns="27432" rIns="27432" tIns="18288" bIns="18288" anchor="t">
            <a:spAutoFit/>
          </a:bodyPr>
          <a:lstStyle/>
          <a:p>
            <a:pPr algn="ctr">
              <a:spcAft>
                <a:spcPts val="0"/>
              </a:spcAft>
            </a:pPr>
            <a:r>
              <a:rPr sz="2200" b="1">
                <a:solidFill>
                  <a:srgbClr val="12223C"/>
                </a:solidFill>
                <a:latin typeface="Aptos"/>
              </a:rPr>
              <a:t>Plus l’agent peut agir, plus le harnais doit être explicite.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DÉMO · REVUE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Démonstration 4 — revoir sans modifier</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13  ·  3 min</a:t>
            </a:r>
          </a:p>
        </p:txBody>
      </p:sp>
      <p:sp>
        <p:nvSpPr>
          <p:cNvPr id="6" name="Rounded Rectangle 5"/>
          <p:cNvSpPr/>
          <p:nvPr/>
        </p:nvSpPr>
        <p:spPr>
          <a:xfrm>
            <a:off x="777240" y="1828800"/>
            <a:ext cx="2560320" cy="205740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73152" cy="205740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2148839"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Compare</a:t>
            </a:r>
          </a:p>
        </p:txBody>
      </p:sp>
      <p:sp>
        <p:nvSpPr>
          <p:cNvPr id="9" name="TextBox 8"/>
          <p:cNvSpPr txBox="1"/>
          <p:nvPr/>
        </p:nvSpPr>
        <p:spPr>
          <a:xfrm>
            <a:off x="1005840" y="2414016"/>
            <a:ext cx="2148839" cy="13441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Demande initiale
Plan approuvé
Rules</a:t>
            </a:r>
          </a:p>
        </p:txBody>
      </p:sp>
      <p:sp>
        <p:nvSpPr>
          <p:cNvPr id="10" name="Right Arrow 9"/>
          <p:cNvSpPr/>
          <p:nvPr/>
        </p:nvSpPr>
        <p:spPr>
          <a:xfrm>
            <a:off x="3520440" y="2606040"/>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1828800"/>
            <a:ext cx="2560320" cy="20574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828800"/>
            <a:ext cx="73152" cy="205740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011680"/>
            <a:ext cx="2148839"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Inspecte</a:t>
            </a:r>
          </a:p>
        </p:txBody>
      </p:sp>
      <p:sp>
        <p:nvSpPr>
          <p:cNvPr id="14" name="TextBox 13"/>
          <p:cNvSpPr txBox="1"/>
          <p:nvPr/>
        </p:nvSpPr>
        <p:spPr>
          <a:xfrm>
            <a:off x="4572000" y="2414016"/>
            <a:ext cx="2148839" cy="134416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Diff complet
Résultats de tests
Tests manquants</a:t>
            </a:r>
          </a:p>
        </p:txBody>
      </p:sp>
      <p:sp>
        <p:nvSpPr>
          <p:cNvPr id="15" name="Right Arrow 14"/>
          <p:cNvSpPr/>
          <p:nvPr/>
        </p:nvSpPr>
        <p:spPr>
          <a:xfrm>
            <a:off x="7086600" y="2606040"/>
            <a:ext cx="640080" cy="219456"/>
          </a:xfrm>
          <a:prstGeom prst="rightArrow">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9560" y="1828800"/>
            <a:ext cx="3154680" cy="205740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09560" y="1828800"/>
            <a:ext cx="73152" cy="205740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2011680"/>
            <a:ext cx="274320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Conclut</a:t>
            </a:r>
          </a:p>
        </p:txBody>
      </p:sp>
      <p:sp>
        <p:nvSpPr>
          <p:cNvPr id="19" name="TextBox 18"/>
          <p:cNvSpPr txBox="1"/>
          <p:nvPr/>
        </p:nvSpPr>
        <p:spPr>
          <a:xfrm>
            <a:off x="8138160" y="2414016"/>
            <a:ext cx="2743200" cy="1344168"/>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Blocker / Important
Minor / None
Aucun fichier modifié</a:t>
            </a:r>
          </a:p>
        </p:txBody>
      </p:sp>
      <p:sp>
        <p:nvSpPr>
          <p:cNvPr id="20" name="TextBox 19"/>
          <p:cNvSpPr txBox="1"/>
          <p:nvPr/>
        </p:nvSpPr>
        <p:spPr>
          <a:xfrm>
            <a:off x="914400" y="4983480"/>
            <a:ext cx="10241280" cy="411480"/>
          </a:xfrm>
          <a:prstGeom prst="rect">
            <a:avLst/>
          </a:prstGeom>
          <a:noFill/>
        </p:spPr>
        <p:txBody>
          <a:bodyPr wrap="square" lIns="27432" rIns="27432" tIns="18288" bIns="18288" anchor="t">
            <a:spAutoFit/>
          </a:bodyPr>
          <a:lstStyle/>
          <a:p>
            <a:pPr algn="ctr">
              <a:spcAft>
                <a:spcPts val="0"/>
              </a:spcAft>
            </a:pPr>
            <a:r>
              <a:rPr sz="2000" b="1">
                <a:solidFill>
                  <a:srgbClr val="12223C"/>
                </a:solidFill>
                <a:latin typeface="Aptos"/>
              </a:rPr>
              <a:t>Une revue structurée l’attention ; elle ne remplace pas le jugement humain.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INDUSTRIALISATION FACULTATIVE</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Frameworks existants</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14  ·  3 min</a:t>
            </a:r>
          </a:p>
        </p:txBody>
      </p:sp>
      <p:sp>
        <p:nvSpPr>
          <p:cNvPr id="6" name="Rounded Rectangle 5"/>
          <p:cNvSpPr/>
          <p:nvPr/>
        </p:nvSpPr>
        <p:spPr>
          <a:xfrm>
            <a:off x="685800" y="1783080"/>
            <a:ext cx="2514600" cy="196596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783080"/>
            <a:ext cx="73152" cy="196596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0312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Spec Kit</a:t>
            </a:r>
          </a:p>
        </p:txBody>
      </p:sp>
      <p:sp>
        <p:nvSpPr>
          <p:cNvPr id="9" name="TextBox 8"/>
          <p:cNvSpPr txBox="1"/>
          <p:nvPr/>
        </p:nvSpPr>
        <p:spPr>
          <a:xfrm>
            <a:off x="914400" y="2368296"/>
            <a:ext cx="2103120" cy="125272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spec → plan → tasks
→ implement / converge</a:t>
            </a:r>
          </a:p>
        </p:txBody>
      </p:sp>
      <p:sp>
        <p:nvSpPr>
          <p:cNvPr id="10" name="Rounded Rectangle 9"/>
          <p:cNvSpPr/>
          <p:nvPr/>
        </p:nvSpPr>
        <p:spPr>
          <a:xfrm>
            <a:off x="3429000" y="1783080"/>
            <a:ext cx="2514600" cy="196596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783080"/>
            <a:ext cx="73152" cy="196596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965960"/>
            <a:ext cx="210312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OpenSpec</a:t>
            </a:r>
          </a:p>
        </p:txBody>
      </p:sp>
      <p:sp>
        <p:nvSpPr>
          <p:cNvPr id="13" name="TextBox 12"/>
          <p:cNvSpPr txBox="1"/>
          <p:nvPr/>
        </p:nvSpPr>
        <p:spPr>
          <a:xfrm>
            <a:off x="3657600" y="2368296"/>
            <a:ext cx="2103120" cy="125272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explore → propose
→ apply → archive</a:t>
            </a:r>
          </a:p>
        </p:txBody>
      </p:sp>
      <p:sp>
        <p:nvSpPr>
          <p:cNvPr id="14" name="Rounded Rectangle 13"/>
          <p:cNvSpPr/>
          <p:nvPr/>
        </p:nvSpPr>
        <p:spPr>
          <a:xfrm>
            <a:off x="6172200" y="1783080"/>
            <a:ext cx="2514600" cy="196596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783080"/>
            <a:ext cx="73152" cy="196596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65960"/>
            <a:ext cx="210312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BMAD Method</a:t>
            </a:r>
          </a:p>
        </p:txBody>
      </p:sp>
      <p:sp>
        <p:nvSpPr>
          <p:cNvPr id="17" name="TextBox 16"/>
          <p:cNvSpPr txBox="1"/>
          <p:nvPr/>
        </p:nvSpPr>
        <p:spPr>
          <a:xfrm>
            <a:off x="6400800" y="2368296"/>
            <a:ext cx="2103120" cy="125272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Workflows adaptatifs
spécialisés par rôles</a:t>
            </a:r>
          </a:p>
        </p:txBody>
      </p:sp>
      <p:sp>
        <p:nvSpPr>
          <p:cNvPr id="18" name="Rounded Rectangle 17"/>
          <p:cNvSpPr/>
          <p:nvPr/>
        </p:nvSpPr>
        <p:spPr>
          <a:xfrm>
            <a:off x="8915400" y="1783080"/>
            <a:ext cx="2514600" cy="1965960"/>
          </a:xfrm>
          <a:prstGeom prst="roundRect">
            <a:avLst/>
          </a:prstGeom>
          <a:solidFill>
            <a:srgbClr val="FCE9E9"/>
          </a:solidFill>
          <a:ln>
            <a:solidFill>
              <a:srgbClr val="FCE9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15400" y="1783080"/>
            <a:ext cx="73152" cy="1965960"/>
          </a:xfrm>
          <a:prstGeom prst="rect">
            <a:avLst/>
          </a:prstGeom>
          <a:solidFill>
            <a:srgbClr val="CF4F4F"/>
          </a:solidFill>
          <a:ln>
            <a:solidFill>
              <a:srgbClr val="CF4F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965960"/>
            <a:ext cx="2103120" cy="274320"/>
          </a:xfrm>
          <a:prstGeom prst="rect">
            <a:avLst/>
          </a:prstGeom>
          <a:noFill/>
        </p:spPr>
        <p:txBody>
          <a:bodyPr wrap="square" lIns="27432" rIns="27432" tIns="18288" bIns="18288" anchor="t">
            <a:spAutoFit/>
          </a:bodyPr>
          <a:lstStyle/>
          <a:p>
            <a:pPr algn="l">
              <a:spcAft>
                <a:spcPts val="0"/>
              </a:spcAft>
            </a:pPr>
            <a:r>
              <a:rPr sz="1700" b="1">
                <a:solidFill>
                  <a:srgbClr val="161F31"/>
                </a:solidFill>
                <a:latin typeface="Aptos"/>
              </a:rPr>
              <a:t>AIDD</a:t>
            </a:r>
          </a:p>
        </p:txBody>
      </p:sp>
      <p:sp>
        <p:nvSpPr>
          <p:cNvPr id="21" name="TextBox 20"/>
          <p:cNvSpPr txBox="1"/>
          <p:nvPr/>
        </p:nvSpPr>
        <p:spPr>
          <a:xfrm>
            <a:off x="9144000" y="2368296"/>
            <a:ext cx="2103120" cy="125272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Cycle logiciel plus large
skills · agents · règles</a:t>
            </a:r>
          </a:p>
        </p:txBody>
      </p:sp>
      <p:sp>
        <p:nvSpPr>
          <p:cNvPr id="22" name="TextBox 21"/>
          <p:cNvSpPr txBox="1"/>
          <p:nvPr/>
        </p:nvSpPr>
        <p:spPr>
          <a:xfrm>
            <a:off x="914400" y="4892040"/>
            <a:ext cx="10287000" cy="502920"/>
          </a:xfrm>
          <a:prstGeom prst="rect">
            <a:avLst/>
          </a:prstGeom>
          <a:noFill/>
        </p:spPr>
        <p:txBody>
          <a:bodyPr wrap="square" lIns="27432" rIns="27432" tIns="18288" bIns="18288" anchor="t">
            <a:spAutoFit/>
          </a:bodyPr>
          <a:lstStyle/>
          <a:p>
            <a:pPr algn="ctr">
              <a:spcAft>
                <a:spcPts val="0"/>
              </a:spcAft>
            </a:pPr>
            <a:r>
              <a:rPr sz="1900" b="1">
                <a:solidFill>
                  <a:srgbClr val="12223C"/>
                </a:solidFill>
                <a:latin typeface="Aptos"/>
              </a:rPr>
              <a:t>Commencer petit : quelques rules + quelques skills. Industrialiser quand le besoin est réel.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28600"/>
          </a:xfrm>
          <a:prstGeom prst="rect">
            <a:avLst/>
          </a:prstGeom>
          <a:noFill/>
        </p:spPr>
        <p:txBody>
          <a:bodyPr wrap="square" lIns="27432" rIns="27432" tIns="18288" bIns="18288" anchor="t">
            <a:spAutoFit/>
          </a:bodyPr>
          <a:lstStyle/>
          <a:p>
            <a:pPr algn="l">
              <a:spcAft>
                <a:spcPts val="0"/>
              </a:spcAft>
            </a:pPr>
            <a:r>
              <a:rPr sz="1000" b="1">
                <a:solidFill>
                  <a:srgbClr val="3D80E0"/>
                </a:solidFill>
                <a:latin typeface="Aptos"/>
              </a:rPr>
              <a:t>À RETENIR</a:t>
            </a:r>
          </a:p>
        </p:txBody>
      </p:sp>
      <p:sp>
        <p:nvSpPr>
          <p:cNvPr id="3" name="TextBox 2"/>
          <p:cNvSpPr txBox="1"/>
          <p:nvPr/>
        </p:nvSpPr>
        <p:spPr>
          <a:xfrm>
            <a:off x="594360" y="603504"/>
            <a:ext cx="10607040" cy="502920"/>
          </a:xfrm>
          <a:prstGeom prst="rect">
            <a:avLst/>
          </a:prstGeom>
          <a:noFill/>
        </p:spPr>
        <p:txBody>
          <a:bodyPr wrap="square" lIns="27432" rIns="27432" tIns="18288" bIns="18288" anchor="t">
            <a:spAutoFit/>
          </a:bodyPr>
          <a:lstStyle/>
          <a:p>
            <a:pPr algn="l">
              <a:spcAft>
                <a:spcPts val="0"/>
              </a:spcAft>
            </a:pPr>
            <a:r>
              <a:rPr sz="2700" b="1">
                <a:solidFill>
                  <a:srgbClr val="161F31"/>
                </a:solidFill>
                <a:latin typeface="Aptos"/>
              </a:rPr>
              <a:t>Sécurité, bonnes pratiques, conclusion</a:t>
            </a:r>
          </a:p>
        </p:txBody>
      </p:sp>
      <p:sp>
        <p:nvSpPr>
          <p:cNvPr id="4" name="Rectangle 3"/>
          <p:cNvSpPr/>
          <p:nvPr/>
        </p:nvSpPr>
        <p:spPr>
          <a:xfrm>
            <a:off x="594360" y="1261872"/>
            <a:ext cx="11018520" cy="22860"/>
          </a:xfrm>
          <a:prstGeom prst="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87000" y="6473952"/>
            <a:ext cx="1280160" cy="164592"/>
          </a:xfrm>
          <a:prstGeom prst="rect">
            <a:avLst/>
          </a:prstGeom>
          <a:noFill/>
        </p:spPr>
        <p:txBody>
          <a:bodyPr wrap="square" lIns="27432" rIns="27432" tIns="18288" bIns="18288" anchor="t">
            <a:spAutoFit/>
          </a:bodyPr>
          <a:lstStyle/>
          <a:p>
            <a:pPr algn="r">
              <a:spcAft>
                <a:spcPts val="0"/>
              </a:spcAft>
            </a:pPr>
            <a:r>
              <a:rPr sz="900" b="0">
                <a:solidFill>
                  <a:srgbClr val="5B687C"/>
                </a:solidFill>
                <a:latin typeface="Aptos"/>
              </a:rPr>
              <a:t>15  ·  4 min</a:t>
            </a:r>
          </a:p>
        </p:txBody>
      </p:sp>
      <p:sp>
        <p:nvSpPr>
          <p:cNvPr id="6" name="Rounded Rectangle 5"/>
          <p:cNvSpPr/>
          <p:nvPr/>
        </p:nvSpPr>
        <p:spPr>
          <a:xfrm>
            <a:off x="731520" y="1691640"/>
            <a:ext cx="3886200" cy="2926080"/>
          </a:xfrm>
          <a:prstGeom prst="roundRect">
            <a:avLst/>
          </a:prstGeom>
          <a:solidFill>
            <a:srgbClr val="E5EFFD"/>
          </a:solidFill>
          <a:ln>
            <a:solidFill>
              <a:srgbClr val="E5EF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73152" cy="2926080"/>
          </a:xfrm>
          <a:prstGeom prst="rect">
            <a:avLst/>
          </a:prstGeom>
          <a:solidFill>
            <a:srgbClr val="3D80E0"/>
          </a:solidFill>
          <a:ln>
            <a:solidFill>
              <a:srgbClr val="3D8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347472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5 gestes</a:t>
            </a:r>
          </a:p>
        </p:txBody>
      </p:sp>
      <p:sp>
        <p:nvSpPr>
          <p:cNvPr id="9" name="TextBox 8"/>
          <p:cNvSpPr txBox="1"/>
          <p:nvPr/>
        </p:nvSpPr>
        <p:spPr>
          <a:xfrm>
            <a:off x="960120" y="2276856"/>
            <a:ext cx="3474720" cy="2212848"/>
          </a:xfrm>
          <a:prstGeom prst="rect">
            <a:avLst/>
          </a:prstGeom>
          <a:noFill/>
        </p:spPr>
        <p:txBody>
          <a:bodyPr wrap="square" lIns="27432" rIns="27432" tIns="18288" bIns="18288" anchor="t">
            <a:spAutoFit/>
          </a:bodyPr>
          <a:lstStyle/>
          <a:p>
            <a:pPr algn="l">
              <a:spcAft>
                <a:spcPts val="0"/>
              </a:spcAft>
            </a:pPr>
            <a:r>
              <a:rPr sz="1600" b="0">
                <a:solidFill>
                  <a:srgbClr val="5B687C"/>
                </a:solidFill>
                <a:latin typeface="Aptos"/>
              </a:rPr>
              <a:t>1  Contexte pertinent
2  Rules explicites
3  Skills réutilisables
4  Approbation humaine
5  Harnais déterministe</a:t>
            </a:r>
          </a:p>
        </p:txBody>
      </p:sp>
      <p:sp>
        <p:nvSpPr>
          <p:cNvPr id="10" name="Rounded Rectangle 9"/>
          <p:cNvSpPr/>
          <p:nvPr/>
        </p:nvSpPr>
        <p:spPr>
          <a:xfrm>
            <a:off x="4937760" y="1691640"/>
            <a:ext cx="2743200" cy="2926080"/>
          </a:xfrm>
          <a:prstGeom prst="roundRect">
            <a:avLst/>
          </a:prstGeom>
          <a:solidFill>
            <a:srgbClr val="FFF1E0"/>
          </a:solidFill>
          <a:ln>
            <a:solidFill>
              <a:srgbClr val="FFF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0" y="1691640"/>
            <a:ext cx="73152" cy="2926080"/>
          </a:xfrm>
          <a:prstGeom prst="rect">
            <a:avLst/>
          </a:prstGeom>
          <a:solidFill>
            <a:srgbClr val="F2994A"/>
          </a:solidFill>
          <a:ln>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874520"/>
            <a:ext cx="233172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Toujours</a:t>
            </a:r>
          </a:p>
        </p:txBody>
      </p:sp>
      <p:sp>
        <p:nvSpPr>
          <p:cNvPr id="13" name="TextBox 12"/>
          <p:cNvSpPr txBox="1"/>
          <p:nvPr/>
        </p:nvSpPr>
        <p:spPr>
          <a:xfrm>
            <a:off x="5166360" y="2276856"/>
            <a:ext cx="2331720" cy="2212848"/>
          </a:xfrm>
          <a:prstGeom prst="rect">
            <a:avLst/>
          </a:prstGeom>
          <a:noFill/>
        </p:spPr>
        <p:txBody>
          <a:bodyPr wrap="square" lIns="27432" rIns="27432" tIns="18288" bIns="18288" anchor="t">
            <a:spAutoFit/>
          </a:bodyPr>
          <a:lstStyle/>
          <a:p>
            <a:pPr algn="l">
              <a:spcAft>
                <a:spcPts val="0"/>
              </a:spcAft>
            </a:pPr>
            <a:r>
              <a:rPr sz="1500" b="0">
                <a:solidFill>
                  <a:srgbClr val="5B687C"/>
                </a:solidFill>
                <a:latin typeface="Aptos"/>
              </a:rPr>
              <a:t>Pas de secrets
Permissions limitées
Diff relu
Branche / worktree
Outils approuvés</a:t>
            </a:r>
          </a:p>
        </p:txBody>
      </p:sp>
      <p:sp>
        <p:nvSpPr>
          <p:cNvPr id="14" name="Rounded Rectangle 13"/>
          <p:cNvSpPr/>
          <p:nvPr/>
        </p:nvSpPr>
        <p:spPr>
          <a:xfrm>
            <a:off x="8001000" y="1691640"/>
            <a:ext cx="3383280" cy="2926080"/>
          </a:xfrm>
          <a:prstGeom prst="roundRect">
            <a:avLst/>
          </a:prstGeom>
          <a:solidFill>
            <a:srgbClr val="E2F7F5"/>
          </a:solidFill>
          <a:ln>
            <a:solidFill>
              <a:srgbClr val="E2F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1691640"/>
            <a:ext cx="73152" cy="2926080"/>
          </a:xfrm>
          <a:prstGeom prst="rect">
            <a:avLst/>
          </a:prstGeom>
          <a:solidFill>
            <a:srgbClr val="2EB8B8"/>
          </a:solidFill>
          <a:ln>
            <a:solidFill>
              <a:srgbClr val="2E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74520"/>
            <a:ext cx="2971800" cy="274320"/>
          </a:xfrm>
          <a:prstGeom prst="rect">
            <a:avLst/>
          </a:prstGeom>
          <a:noFill/>
        </p:spPr>
        <p:txBody>
          <a:bodyPr wrap="square" lIns="27432" rIns="27432" tIns="18288" bIns="18288" anchor="t">
            <a:spAutoFit/>
          </a:bodyPr>
          <a:lstStyle/>
          <a:p>
            <a:pPr algn="l">
              <a:spcAft>
                <a:spcPts val="0"/>
              </a:spcAft>
            </a:pPr>
            <a:r>
              <a:rPr sz="1800" b="1">
                <a:solidFill>
                  <a:srgbClr val="161F31"/>
                </a:solidFill>
                <a:latin typeface="Aptos"/>
              </a:rPr>
              <a:t>TDD ?</a:t>
            </a:r>
          </a:p>
        </p:txBody>
      </p:sp>
      <p:sp>
        <p:nvSpPr>
          <p:cNvPr id="17" name="TextBox 16"/>
          <p:cNvSpPr txBox="1"/>
          <p:nvPr/>
        </p:nvSpPr>
        <p:spPr>
          <a:xfrm>
            <a:off x="8229600" y="2276856"/>
            <a:ext cx="2971800" cy="2212848"/>
          </a:xfrm>
          <a:prstGeom prst="rect">
            <a:avLst/>
          </a:prstGeom>
          <a:noFill/>
        </p:spPr>
        <p:txBody>
          <a:bodyPr wrap="square" lIns="27432" rIns="27432" tIns="18288" bIns="18288" anchor="t">
            <a:spAutoFit/>
          </a:bodyPr>
          <a:lstStyle/>
          <a:p>
            <a:pPr algn="l">
              <a:spcAft>
                <a:spcPts val="0"/>
              </a:spcAft>
            </a:pPr>
            <a:r>
              <a:rPr sz="1400" b="0">
                <a:solidFill>
                  <a:srgbClr val="5B687C"/>
                </a:solidFill>
                <a:latin typeface="Aptos"/>
              </a:rPr>
              <a:t>Une boucle rouge / vert / refactor
peut être lisible pour l’agent.
Piste intéressante, pas obligation
et pas une promesse de maîtrise.</a:t>
            </a:r>
          </a:p>
        </p:txBody>
      </p:sp>
      <p:sp>
        <p:nvSpPr>
          <p:cNvPr id="18" name="TextBox 17"/>
          <p:cNvSpPr txBox="1"/>
          <p:nvPr/>
        </p:nvSpPr>
        <p:spPr>
          <a:xfrm>
            <a:off x="914400" y="5230368"/>
            <a:ext cx="10332720" cy="320040"/>
          </a:xfrm>
          <a:prstGeom prst="rect">
            <a:avLst/>
          </a:prstGeom>
          <a:noFill/>
        </p:spPr>
        <p:txBody>
          <a:bodyPr wrap="square" lIns="27432" rIns="27432" tIns="18288" bIns="18288" anchor="t">
            <a:spAutoFit/>
          </a:bodyPr>
          <a:lstStyle/>
          <a:p>
            <a:pPr algn="ctr">
              <a:spcAft>
                <a:spcPts val="0"/>
              </a:spcAft>
            </a:pPr>
            <a:r>
              <a:rPr sz="1600" b="1">
                <a:solidFill>
                  <a:srgbClr val="12223C"/>
                </a:solidFill>
                <a:latin typeface="Aptos"/>
              </a:rPr>
              <a:t>Ressources : docs/resources.md  ·  Questions : 10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