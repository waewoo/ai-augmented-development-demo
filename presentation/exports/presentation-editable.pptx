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1 minute.
Message principal : la session donne une méthode, des garde-fous et un exemple reproductible.
Formulation suggérée : « En une heure, vous ne deviendrez pas expert des agents de code. Vous repartirez avec une méthode que vous pourrez essayer dès demain. »
Action : annoncer que Kilo Code sera visible pendant la démonstration, mais que les principes sont transposables.
Point à ne pas oublier : pas de catalogue de technologies sur la couverture.
Transition : « Commençons par la promesse et ses limites. »
Si la démonstration ralentit : aucune action sur cette slide ; elle reste autonome.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2 minutes.
Message principal : donner une promesse réaliste, sans vendre une transformation instantanée.
Formulation suggérée : « Nous allons voir une méthode concrète : contexte, rules, skills, approbation et contrôles. »
Action : faire apparaître les deux phrases successivement avec un clic.
Point à ne pas oublier : la session ne transforme pas les participants en experts.
Transition : « Pour comprendre cette méthode, distinguons modèle, assistant et agent. »
Si la démonstration ralentit : rester sur les deux phrases ; aucune dépendance externe.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3 minutes.
Message principal : la portée augmente de la réponse vers l’action, donc le besoin de contrôle augmente aussi.
Formulation suggérée : « L’agent peut explorer le dépôt, modifier plusieurs fichiers et exécuter les tests. Le développeur doit contrôler son périmètre et vérifier le résultat. »
Action : révéler les trois compositions successivement.
Point à ne pas oublier : MCP expose des outils ou sources de façon standardisée ; un hook déclenche une action avant ou après un événement ; un sous-agent ajoute coordination et coût.
Alternatives : Continue, OpenCode et IBM Bob existent également ; Kilo Code n’est qu’un exemple choisi pour la démonstration.
Transition : « Comment rendre ces actions visibles et contrôlables ? »
Si la démonstration ralentit : lire les trois définitions sans dépendre d’un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2 minutes.
Message principal : le workflow sépare compréhension, action et preuve.
Formulation suggérée : « Je ne donne pas à l’agent une autorisation implicite de tout modifier. Je rends les étapes observables. »
Action : faire apparaître le diagramme étape par étape.
Point à ne pas oublier : l’approbation peut réduire le périmètre avant le coût de l’implémentation.
Transition : « La première étape — comprendre — dépend du contexte disponible. »
Si la démonstration ralentit : montrer le diagramme statique, qui possède un fallback lisible.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3 minutes.
Message principal : le contexte est le premier facteur de qualité.
Formulation suggérée : « Je donne d’abord à l’agent les moyens de comprendre le projet : code, demande, architecture, conventions, tests, commandes et contraintes de sécurité. »
Action : révéler les nœuds de la carte progressivement.
Point à ne pas oublier : l’historique utile peut aider ; charger tout le dépôt n’est pas automatiquement meilleur.
Transition : « Testons cette découverte sans modifier un seul fichier. »
Si la démonstration ralentit : la carte et la phrase de synthèse sont suffisantes.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
Durée maximale : 4 minutes.
Résultat attendu : l’agent décrit le dépôt sans modifier de fichier.
Action : basculer vers Kilo Code en mode planification/lecture seule et saisir le prompt d’exploration de docs/demo-prompts.md.
Message principal : « Je donne d’abord à l’agent les moyens de comprendre le projet. »
Retour : revenir vers Slidev après deux ou trois observations utiles, sans lire la réponse ligne par ligne.
Solution de secours : afficher demo-assets/expected-plan.md ou docs/demo-runbook.md.
Transition : « Certaines attentes ne doivent pas être répétées à chaque demande : ce sont les rules.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2 minutes.
Message principal : une rule fixe ce qui doit être respecté ; elle est lisible et auditable mais appliquée au mieux par le modèle.
Formulation suggérée : « Les rules donnent les contraintes propres au projet. »
Action : faire apparaître l’avant/après ; montrer ensuite kilo.jsonc et .kilo/rules/.
Point à ne pas oublier : ne pas présenter les rules comme une barrière de sécurité.
Transition : « La différence se voit déjà dans un plan, sans faire deux implémentations. »
Si la démonstration ralentit : ouvrir plan-without-rules.md et plan-with-rules.md localement.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2 minutes.
Message principal : les skills rendent une procédure répétable et évitent de réécrire un long prompt.
Formulation suggérée : « Le skill rend la méthode répétable. »
Action : pointer les trois skills du dépôt et leur frontmatter name/description.
Point à ne pas oublier : un skill n’est pas une permission ; il décrit une procédure.
Transition : « Demandons maintenant un plan avant de demander du code. »
Si la démonstration ralentit : afficher directement les trois fichiers SKILL.md.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
Durée maximale : 4 minutes.
Résultat attendu : un plan en lecture seule pour le filtre optionnel status sur GET /tasks.
Action : basculer vers Kilo Code, utiliser plan-change, puis revenir vers Slidev avec le plan affiché.
Message principal : « Le plan est un point de contrôle humain, pas une formalité. »
Point d’approbation : demander au présentateur de lire le plan et de l’approuver explicitement avant toute écriture.
Solution de secours : afficher demo-assets/expected-plan.md.
Transition : « Le plan est approuvé ; l’agent peut maintenant agir dans un périmètre connu.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
Durée maximale : 4 minutes.
Résultat attendu : le filtre optionnel est implémenté avec tests, sans changement hors périmètre.
Action : basculer vers Kilo Code, saisir le prompt implement-change après approbation, puis revenir vers Slidev pour montrer l’évolution.
Message principal : l’agent propose et exécute ; le développeur reste responsable.
Point à ne pas oublier : conserver le comportement sans filtre et obtenir 422 pour un statut invalide.
Solution de secours : afficher demo-assets/expected-diff.md puis ouvrir le tag demo/implemented.
Transition : « Une modification crédible doit être suivie de contrôles déterministes.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4 minutes.
Message principal : la validation est déterministe et vérifiable.
Formulation suggérée : « J’accepte le résultat parce que les contrôles sont verts, pas parce que l’agent dit “terminé”. »
Action : révéler les commandes puis montrer leur sortie réelle dans le terminal.
Point à ne pas oublier : montrer aussi le diff et les quatre comportements API.
Transition : « L’ensemble de ces règles, outils, tests et permissions forme le harnais. »
Si un test échoue : ne pas masquer l’échec ; afficher expected-checks.md et expliquer ce qui reste ouvert.
Solution de secours : demo-assets/expected-checks.md.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3 minutes.
Message principal : le harnais encadre les capacités, les permissions et les boucles de validation.
Formulation suggérée : « Le harnais est l’ensemble du contexte, des règles, outils, tests, permissions et boucles de validation qui encadrent l’agent. »
Action : faire apparaître les couches successivement, du contexte à la revue humaine.
Point à ne pas oublier : hooks et CI sont des éléments d’automatisation, pas des garanties magiques.
Transition : « Une dernière passe compare le résultat à la demande initiale. »
Si la démonstration ralentit : lire la pile de couches statique.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
Durée maximale : 3 minutes.
Résultat attendu : observations classées par sévérité et conclusion explicite sur les problèmes bloquants.
Action : basculer vers Kilo Code, utiliser review-change en lecture seule, puis revenir vers Slidev.
Message principal : « Je regarde le diff et les contrôles, pas uniquement le résumé de l’agent. »
Point à ne pas oublier : le skill de revue ne modifie aucun fichier.
Solution de secours : utiliser demo-assets/expected-diff.md et demo-assets/expected-checks.md comme revue guidée.
Transition : « Si l’on veut plus de structure, des frameworks existent — sans remplacer le jugement.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3 minutes.
Message principal : les frameworks sont des accélérateurs facultatifs, pas un passage obligatoire.
Formulation suggérée : « On peut commencer avec quelques rules et skills simples avant d’adopter un framework complet. »
Action : présenter chaque framework par sa logique principale et son niveau d’abstraction, sans matrice complexe.
Point à ne pas oublier : mentionner Spec Kit, OpenSpec, BMAD Method et AIDD sans comparaison partisane.
Transition : « Ce qui reste constant, quel que soit l’outil, ce sont les cinq gestes suivants. »
Si la démonstration ralentit : cette slide ne dépend d’aucun service en ligne.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Durée : 4 minutes.
Message principal : cinq gestes simples et une responsabilité humaine constante.
Formulation suggérée : « Le TDD semble fournir une boucle particulièrement lisible pour l’agent. C’est une piste intéressante, mais ce n’est ni obligatoire ni une pratique que je prétends aujourd’hui maîtriser avec l’IA. »
Action : révéler les cinq gestes progressivement, puis passer la parole.
Point à ne pas oublier : ne jamais placer de secret dans prompts, rules, logs ou fichiers ; limiter les permissions ; travailler sur branche ou worktree ; examiner le diff ; ne pas donner accès à la production.
Transition : passer 8 minutes à l’intervenant formation, puis réserver 10 minutes aux questions.
Si la démonstration échoue : rappeler que le dépôt contient plan, diff, contrôles et tags de secours.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3400" y="381000"/>
            <a:ext cx="8267700" cy="4733925"/>
          </a:xfrm>
          <a:prstGeom prst="rect">
            <a:avLst/>
          </a:prstGeom>
          <a:solidFill>
            <a:srgbClr val="172033"/>
          </a:solidFill>
          <a:ln/>
        </p:spPr>
      </p:sp>
      <p:pic>
        <p:nvPicPr>
          <p:cNvPr id="3" name="Image 0" descr="Rendered as an image because of CSS transfor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51938" y="0"/>
            <a:ext cx="6282562" cy="475659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257300" y="1038225"/>
            <a:ext cx="344343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50" b="1" spc="137" kern="0" dirty="0">
                <a:solidFill>
                  <a:srgbClr val="8F93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DÉVELOPPEMENT AUGMENTÉ · INITIATION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1229767" y="1514475"/>
            <a:ext cx="6866483" cy="2276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350" spc="-152" kern="0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Premiers pas vers</a:t>
            </a:r>
            <a:br/>
            <a:pPr algn="l" indent="0" marL="0">
              <a:lnSpc>
                <a:spcPts val="6000"/>
              </a:lnSpc>
              <a:buNone/>
            </a:pPr>
            <a:r>
              <a:rPr lang="en-US" sz="4350" spc="-152" kern="0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le développement</a:t>
            </a:r>
            <a:br/>
            <a:pPr algn="l" indent="0" marL="0">
              <a:lnSpc>
                <a:spcPts val="6000"/>
              </a:lnSpc>
              <a:buNone/>
            </a:pPr>
            <a:r>
              <a:rPr lang="en-US" sz="4350" spc="-152" kern="0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augmenté par l’IA</a:t>
            </a:r>
            <a:endParaRPr lang="en-US" sz="4350" dirty="0"/>
          </a:p>
        </p:txBody>
      </p:sp>
      <p:sp>
        <p:nvSpPr>
          <p:cNvPr id="6" name="Text 3"/>
          <p:cNvSpPr txBox="1"/>
          <p:nvPr/>
        </p:nvSpPr>
        <p:spPr>
          <a:xfrm>
            <a:off x="1257300" y="4038600"/>
            <a:ext cx="6748016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75" dirty="0">
                <a:solidFill>
                  <a:srgbClr val="C8D0DF">
                    <a:alpha val="50000"/>
                  </a:srgbClr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Une méthode concrète pour travailler avec des agents de code</a:t>
            </a:r>
            <a:endParaRPr lang="en-US" sz="1875" dirty="0"/>
          </a:p>
        </p:txBody>
      </p:sp>
      <p:sp>
        <p:nvSpPr>
          <p:cNvPr id="7" name="Shape 4"/>
          <p:cNvSpPr/>
          <p:nvPr/>
        </p:nvSpPr>
        <p:spPr>
          <a:xfrm>
            <a:off x="4259014" y="3967162"/>
            <a:ext cx="902643" cy="44291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411414" y="4090987"/>
            <a:ext cx="71214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demande</a:t>
            </a:r>
            <a:endParaRPr lang="en-US" sz="1125" dirty="0"/>
          </a:p>
        </p:txBody>
      </p:sp>
      <p:sp>
        <p:nvSpPr>
          <p:cNvPr id="9" name="Text 6"/>
          <p:cNvSpPr txBox="1"/>
          <p:nvPr/>
        </p:nvSpPr>
        <p:spPr>
          <a:xfrm>
            <a:off x="5285482" y="4055269"/>
            <a:ext cx="27399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8A999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569000" y="3967162"/>
            <a:ext cx="1098203" cy="44291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21400" y="4090987"/>
            <a:ext cx="9077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changement</a:t>
            </a:r>
            <a:endParaRPr lang="en-US" sz="1125" dirty="0"/>
          </a:p>
        </p:txBody>
      </p:sp>
      <p:sp>
        <p:nvSpPr>
          <p:cNvPr id="12" name="Text 9"/>
          <p:cNvSpPr txBox="1"/>
          <p:nvPr/>
        </p:nvSpPr>
        <p:spPr>
          <a:xfrm>
            <a:off x="6791027" y="4055269"/>
            <a:ext cx="27399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8A999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074545" y="3967162"/>
            <a:ext cx="1002655" cy="44291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226945" y="4090987"/>
            <a:ext cx="8121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vérification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" y="790575"/>
            <a:ext cx="968127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50" b="1" spc="137" kern="0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PROMESSE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125885" y="1066800"/>
            <a:ext cx="6135291" cy="466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700" spc="-94" kern="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Une heure pour repartir avec une méthode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43000" y="2162175"/>
            <a:ext cx="47625" cy="657225"/>
          </a:xfrm>
          <a:prstGeom prst="rect">
            <a:avLst/>
          </a:prstGeom>
          <a:solidFill>
            <a:srgbClr val="5B5CE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52550" y="2124075"/>
            <a:ext cx="6858000" cy="719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b="1" dirty="0">
                <a:solidFill>
                  <a:srgbClr val="172033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En une heure, vous ne deviendrez pas expert des agents de code.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143000" y="3219450"/>
            <a:ext cx="47625" cy="657225"/>
          </a:xfrm>
          <a:prstGeom prst="rect">
            <a:avLst/>
          </a:prstGeom>
          <a:solidFill>
            <a:srgbClr val="18A99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352550" y="3181350"/>
            <a:ext cx="6886087" cy="7191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b="1" dirty="0">
                <a:solidFill>
                  <a:srgbClr val="172033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Vous repartirez avec une méthode que vous pourrez essayer dès demain.</a:t>
            </a:r>
            <a:endParaRPr lang="en-US" sz="225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4481512"/>
            <a:ext cx="262964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Ce que la session permet — et ne permet pas</a:t>
            </a:r>
            <a:endParaRPr lang="en-US" sz="975" dirty="0"/>
          </a:p>
        </p:txBody>
      </p:sp>
      <p:sp>
        <p:nvSpPr>
          <p:cNvPr id="9" name="Text 7"/>
          <p:cNvSpPr txBox="1"/>
          <p:nvPr/>
        </p:nvSpPr>
        <p:spPr>
          <a:xfrm>
            <a:off x="7639794" y="4481512"/>
            <a:ext cx="66600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02 · 2 min</a:t>
            </a:r>
            <a:endParaRPr lang="en-US" sz="9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" y="790575"/>
            <a:ext cx="1248073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50" b="1" spc="137" kern="0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VOCABULAIRE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125885" y="1066800"/>
            <a:ext cx="3562796" cy="466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700" spc="-94" kern="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Modèle, assistant, agent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43000" y="2085975"/>
            <a:ext cx="2209800" cy="22479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81125" y="2333625"/>
            <a:ext cx="771674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spc="48" kern="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MODÈLE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81125" y="2695575"/>
            <a:ext cx="1065758" cy="390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spc="-56" kern="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Répond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1381125" y="3257550"/>
            <a:ext cx="17587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2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Produit une réponse à partir des informations reçues.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3562350" y="2085975"/>
            <a:ext cx="2209800" cy="22479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C9C9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00475" y="2333625"/>
            <a:ext cx="992981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spc="48" kern="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ASSISTANT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800475" y="2695575"/>
            <a:ext cx="1139875" cy="390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spc="-56" kern="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Suggère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3800475" y="3257550"/>
            <a:ext cx="1752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2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Aide dans l’éditeur, le chat ou le terminal.</a:t>
            </a:r>
            <a:endParaRPr lang="en-US" sz="1320" dirty="0"/>
          </a:p>
        </p:txBody>
      </p:sp>
      <p:sp>
        <p:nvSpPr>
          <p:cNvPr id="12" name="Shape 10"/>
          <p:cNvSpPr/>
          <p:nvPr/>
        </p:nvSpPr>
        <p:spPr>
          <a:xfrm>
            <a:off x="5981700" y="2085975"/>
            <a:ext cx="2209800" cy="2247900"/>
          </a:xfrm>
          <a:prstGeom prst="roundRect">
            <a:avLst>
              <a:gd name="adj" fmla="val 5172"/>
            </a:avLst>
          </a:prstGeom>
          <a:solidFill>
            <a:srgbClr val="FFFFFF"/>
          </a:solidFill>
          <a:ln w="9525">
            <a:solidFill>
              <a:srgbClr val="9BD9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9825" y="2333625"/>
            <a:ext cx="658118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spc="48" kern="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AGENT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19825" y="2695575"/>
            <a:ext cx="626418" cy="390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spc="-56" kern="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Agit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6219825" y="3257550"/>
            <a:ext cx="1752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2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Explore, utilise des outils, modifie et vérifie.</a:t>
            </a:r>
            <a:endParaRPr lang="en-US" sz="1320" dirty="0"/>
          </a:p>
        </p:txBody>
      </p:sp>
      <p:sp>
        <p:nvSpPr>
          <p:cNvPr id="16" name="Shape 14"/>
          <p:cNvSpPr/>
          <p:nvPr/>
        </p:nvSpPr>
        <p:spPr>
          <a:xfrm>
            <a:off x="1143000" y="4486275"/>
            <a:ext cx="7048500" cy="19050"/>
          </a:xfrm>
          <a:prstGeom prst="rect">
            <a:avLst/>
          </a:prstGeom>
          <a:solidFill>
            <a:srgbClr val="DFE4E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43000" y="4667250"/>
            <a:ext cx="465906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 agent n’est ni autonome au sens absolu, ni infaillible.</a:t>
            </a:r>
            <a:endParaRPr lang="en-US" sz="1425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4481512"/>
            <a:ext cx="345504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Outils · MCP · hooks · sous-agents : des capacités à encadrer</a:t>
            </a:r>
            <a:endParaRPr lang="en-US" sz="975" dirty="0"/>
          </a:p>
        </p:txBody>
      </p:sp>
      <p:sp>
        <p:nvSpPr>
          <p:cNvPr id="19" name="Text 17"/>
          <p:cNvSpPr txBox="1"/>
          <p:nvPr/>
        </p:nvSpPr>
        <p:spPr>
          <a:xfrm>
            <a:off x="7639794" y="4481512"/>
            <a:ext cx="66600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03 · 3 min</a:t>
            </a:r>
            <a:endParaRPr lang="en-US" sz="97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" y="790575"/>
            <a:ext cx="1069032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50" b="1" spc="137" kern="0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WORKFLOW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125885" y="1066800"/>
            <a:ext cx="5648920" cy="466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700" spc="-94" kern="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Les étapes importantes restent visibles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99008" y="2219325"/>
            <a:ext cx="1321296" cy="12192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F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0977" y="2519362"/>
            <a:ext cx="29721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65683" y="2871788"/>
            <a:ext cx="1187946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Comprendre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815554" y="2647950"/>
            <a:ext cx="33784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18A999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→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2134344" y="2219325"/>
            <a:ext cx="970806" cy="1219200"/>
          </a:xfrm>
          <a:prstGeom prst="roundRect">
            <a:avLst>
              <a:gd name="adj" fmla="val 11774"/>
            </a:avLst>
          </a:prstGeom>
          <a:solidFill>
            <a:srgbClr val="FFFFFF"/>
          </a:solidFill>
          <a:ln w="9525">
            <a:solidFill>
              <a:srgbClr val="DFE4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71142" y="2519362"/>
            <a:ext cx="29721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201019" y="2871788"/>
            <a:ext cx="837456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Planifier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647950"/>
            <a:ext cx="33784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18A999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→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3519190" y="2219325"/>
            <a:ext cx="1169640" cy="1219200"/>
          </a:xfrm>
          <a:prstGeom prst="roundRect">
            <a:avLst>
              <a:gd name="adj" fmla="val 9772"/>
            </a:avLst>
          </a:prstGeom>
          <a:solidFill>
            <a:srgbClr val="FFFFFF"/>
          </a:solidFill>
          <a:ln w="9525">
            <a:solidFill>
              <a:srgbClr val="DFE4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955405" y="2519362"/>
            <a:ext cx="29721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585865" y="2871788"/>
            <a:ext cx="103629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Approuver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784080" y="2647950"/>
            <a:ext cx="33784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18A999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→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5102870" y="2219325"/>
            <a:ext cx="1333500" cy="12192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FE4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20941" y="2519362"/>
            <a:ext cx="29721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158978" y="2871788"/>
            <a:ext cx="122143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Implémenter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531620" y="2647950"/>
            <a:ext cx="33784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18A999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→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850410" y="2219325"/>
            <a:ext cx="873323" cy="1219200"/>
          </a:xfrm>
          <a:prstGeom prst="roundRect">
            <a:avLst>
              <a:gd name="adj" fmla="val 13088"/>
            </a:avLst>
          </a:prstGeom>
          <a:solidFill>
            <a:srgbClr val="FFFFFF"/>
          </a:solidFill>
          <a:ln w="9525">
            <a:solidFill>
              <a:srgbClr val="DFE4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8392" y="2519362"/>
            <a:ext cx="29721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917085" y="2871788"/>
            <a:ext cx="73997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Vérifier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818983" y="2647950"/>
            <a:ext cx="33784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18A999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→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8137773" y="2219325"/>
            <a:ext cx="797719" cy="1219200"/>
          </a:xfrm>
          <a:prstGeom prst="roundRect">
            <a:avLst>
              <a:gd name="adj" fmla="val 14328"/>
            </a:avLst>
          </a:prstGeom>
          <a:solidFill>
            <a:srgbClr val="FFFFFF"/>
          </a:solidFill>
          <a:ln w="9525">
            <a:solidFill>
              <a:srgbClr val="DFE4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87953" y="2519362"/>
            <a:ext cx="29721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204448" y="2871788"/>
            <a:ext cx="664369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Revoir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143000" y="3962400"/>
            <a:ext cx="47625" cy="457200"/>
          </a:xfrm>
          <a:prstGeom prst="rect">
            <a:avLst/>
          </a:prstGeom>
          <a:solidFill>
            <a:srgbClr val="5B5CE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352550" y="3876675"/>
            <a:ext cx="6858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2250" b="1" dirty="0">
                <a:solidFill>
                  <a:srgbClr val="172033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Le plan est un point de contrôle humain, pas une formalité.</a:t>
            </a:r>
            <a:endParaRPr lang="en-US" sz="225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4481512"/>
            <a:ext cx="356249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Comprendre → planifier → approuver → agir → vérifier → revoir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7639794" y="4481512"/>
            <a:ext cx="66600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04 · 2 min</a:t>
            </a:r>
            <a:endParaRPr lang="en-US" sz="9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" y="790575"/>
            <a:ext cx="949821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50" b="1" spc="137" kern="0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CONTEXTE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125885" y="1066800"/>
            <a:ext cx="7084665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spc="-94" kern="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La qualité de la réponse dépend du contexte disponible</a:t>
            </a:r>
            <a:endParaRPr lang="en-US" sz="2700" dirty="0"/>
          </a:p>
        </p:txBody>
      </p:sp>
      <p:pic>
        <p:nvPicPr>
          <p:cNvPr id="4" name="Image 0" descr="Rendered as an image because of CSS transfor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67250" y="3552825"/>
            <a:ext cx="1905000" cy="19050"/>
          </a:xfrm>
          <a:prstGeom prst="rect">
            <a:avLst/>
          </a:prstGeom>
        </p:spPr>
      </p:pic>
      <p:pic>
        <p:nvPicPr>
          <p:cNvPr id="5" name="Image 1" descr="Rendered as an image because of CSS transfor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0" y="3552825"/>
            <a:ext cx="1905000" cy="1905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295400" y="2266950"/>
            <a:ext cx="878086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FE4E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514475" y="2400300"/>
            <a:ext cx="554236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Code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773466" y="2266950"/>
            <a:ext cx="1265634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FE4E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992541" y="2400300"/>
            <a:ext cx="941784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Demande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1143000" y="3924300"/>
            <a:ext cx="1481882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FE4E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362075" y="4057650"/>
            <a:ext cx="1158032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Architecture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270552" y="3924300"/>
            <a:ext cx="920948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FE4E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489627" y="4057650"/>
            <a:ext cx="597098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Rules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3524250" y="4114800"/>
            <a:ext cx="888653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FE4E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743325" y="4248150"/>
            <a:ext cx="56480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Tests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4774257" y="4114800"/>
            <a:ext cx="1131243" cy="533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FE4E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993332" y="4248150"/>
            <a:ext cx="807393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Sécurité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639794" y="4481512"/>
            <a:ext cx="66600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05 · 3 min</a:t>
            </a:r>
            <a:endParaRPr lang="en-US" sz="975" dirty="0"/>
          </a:p>
        </p:txBody>
      </p:sp>
      <p:sp>
        <p:nvSpPr>
          <p:cNvPr id="19" name="Shape 15"/>
          <p:cNvSpPr/>
          <p:nvPr/>
        </p:nvSpPr>
        <p:spPr>
          <a:xfrm>
            <a:off x="3952875" y="2838450"/>
            <a:ext cx="1428750" cy="1428750"/>
          </a:xfrm>
          <a:prstGeom prst="roundRect">
            <a:avLst>
              <a:gd name="adj" fmla="val 50000"/>
            </a:avLst>
          </a:prstGeom>
          <a:solidFill>
            <a:srgbClr val="172033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943350" y="3305175"/>
            <a:ext cx="144780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38"/>
              </a:lnSpc>
              <a:buNone/>
            </a:pPr>
            <a:r>
              <a:rPr lang="en-US" sz="1575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AGENT</a:t>
            </a:r>
            <a:br/>
            <a:pPr algn="ctr" indent="0" marL="0">
              <a:lnSpc>
                <a:spcPts val="2738"/>
              </a:lnSpc>
              <a:buNone/>
            </a:pPr>
            <a:r>
              <a:rPr lang="en-US" sz="1200" dirty="0">
                <a:solidFill>
                  <a:srgbClr val="BDC5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répondre juste</a:t>
            </a:r>
            <a:endParaRPr lang="en-US" sz="157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664494"/>
            <a:ext cx="66675" cy="1928813"/>
          </a:xfrm>
          <a:prstGeom prst="rect">
            <a:avLst/>
          </a:prstGeom>
          <a:solidFill>
            <a:srgbClr val="5B5CE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476375" y="1845469"/>
            <a:ext cx="196572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b="1" spc="113" kern="0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LIVE DEMO · 4 min max</a:t>
            </a:r>
            <a:endParaRPr lang="en-US" sz="1125" dirty="0"/>
          </a:p>
        </p:txBody>
      </p:sp>
      <p:sp>
        <p:nvSpPr>
          <p:cNvPr id="4" name="Text 2"/>
          <p:cNvSpPr txBox="1"/>
          <p:nvPr/>
        </p:nvSpPr>
        <p:spPr>
          <a:xfrm>
            <a:off x="1476375" y="2231231"/>
            <a:ext cx="6201519" cy="3905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250" spc="-56" kern="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Démonstration 1 — comprendre avant de modifier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1476375" y="2793206"/>
            <a:ext cx="646747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75" b="1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Résultat attendu :</a:t>
            </a:r>
            <a:pPr algn="l" indent="0" marL="0">
              <a:lnSpc>
                <a:spcPts val="1800"/>
              </a:lnSpc>
              <a:buNone/>
            </a:pPr>
            <a:r>
              <a:rPr lang="en-US" sz="15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architecture, point d’entrée, tests, commandes, rules et skills identifiés</a:t>
            </a:r>
            <a:endParaRPr lang="en-US" sz="157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" y="790575"/>
            <a:ext cx="62284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50" b="1" spc="137" kern="0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RULES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125885" y="1066800"/>
            <a:ext cx="6106716" cy="466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700" spc="-94" kern="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Les rules rendent les attentes persistantes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43000" y="2276475"/>
            <a:ext cx="3140869" cy="2305050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9525">
            <a:solidFill>
              <a:srgbClr val="DFE4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9225" y="2562225"/>
            <a:ext cx="1102221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spc="48" kern="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SANS RULES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419225" y="2971800"/>
            <a:ext cx="202197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réponse générique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19225" y="3429000"/>
            <a:ext cx="226248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conventions oubliées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19225" y="3886200"/>
            <a:ext cx="2400449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contrôles non précisés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31519" y="3205162"/>
            <a:ext cx="385763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→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5050631" y="2047875"/>
            <a:ext cx="3140869" cy="2762250"/>
          </a:xfrm>
          <a:prstGeom prst="roundRect">
            <a:avLst>
              <a:gd name="adj" fmla="val 4483"/>
            </a:avLst>
          </a:prstGeom>
          <a:solidFill>
            <a:srgbClr val="EEEFFF"/>
          </a:solidFill>
          <a:ln w="9525">
            <a:solidFill>
              <a:srgbClr val="C9C9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326856" y="2333625"/>
            <a:ext cx="1089868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spc="48" kern="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AVEC RULES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326856" y="2743200"/>
            <a:ext cx="23748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architecture respectée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326856" y="3200400"/>
            <a:ext cx="260746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tests explicitement attendus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326856" y="3886200"/>
            <a:ext cx="260746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compte-rendu standardisé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143000" y="4962525"/>
            <a:ext cx="7048500" cy="19050"/>
          </a:xfrm>
          <a:prstGeom prst="rect">
            <a:avLst/>
          </a:prstGeom>
          <a:solidFill>
            <a:srgbClr val="DFE4E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43000" y="5143500"/>
            <a:ext cx="70675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42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Une rule oriente le comportement. Elle ne remplace ni permissions, ni CI, ni tests, ni revue.</a:t>
            </a:r>
            <a:endParaRPr lang="en-US" sz="1425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4481512"/>
            <a:ext cx="131653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Ce que le projet exige</a:t>
            </a:r>
            <a:endParaRPr lang="en-US" sz="975" dirty="0"/>
          </a:p>
        </p:txBody>
      </p:sp>
      <p:sp>
        <p:nvSpPr>
          <p:cNvPr id="18" name="Text 16"/>
          <p:cNvSpPr txBox="1"/>
          <p:nvPr/>
        </p:nvSpPr>
        <p:spPr>
          <a:xfrm>
            <a:off x="7639794" y="4481512"/>
            <a:ext cx="66600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07 · 2 min</a:t>
            </a:r>
            <a:endParaRPr lang="en-US" sz="9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" y="790575"/>
            <a:ext cx="650677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50" b="1" spc="137" kern="0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SKILLS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125885" y="1066800"/>
            <a:ext cx="7084665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spc="-94" kern="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Une rule dit quoi respecter. Un skill décrit comment agir.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43000" y="2466975"/>
            <a:ext cx="3390900" cy="2499122"/>
          </a:xfrm>
          <a:prstGeom prst="roundRect">
            <a:avLst>
              <a:gd name="adj" fmla="val 4574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9225" y="2752725"/>
            <a:ext cx="52328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spc="48" kern="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RULE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419225" y="3200400"/>
            <a:ext cx="47625" cy="613172"/>
          </a:xfrm>
          <a:prstGeom prst="rect">
            <a:avLst/>
          </a:prstGeom>
          <a:solidFill>
            <a:srgbClr val="5B5CE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628775" y="3171825"/>
            <a:ext cx="2647950" cy="668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4"/>
              </a:lnSpc>
              <a:buNone/>
            </a:pPr>
            <a:r>
              <a:rPr lang="en-US" sz="2100" b="1" dirty="0">
                <a:solidFill>
                  <a:srgbClr val="172033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Ce que le projet exige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419225" y="4080272"/>
            <a:ext cx="285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2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Architecture · tests · sécurité · restitution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800600" y="2466975"/>
            <a:ext cx="3390900" cy="2499122"/>
          </a:xfrm>
          <a:prstGeom prst="roundRect">
            <a:avLst>
              <a:gd name="adj" fmla="val 4574"/>
            </a:avLst>
          </a:prstGeom>
          <a:solidFill>
            <a:srgbClr val="FFFFFF"/>
          </a:solidFill>
          <a:ln w="9525">
            <a:solidFill>
              <a:srgbClr val="9BD9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76825" y="2752725"/>
            <a:ext cx="538311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spc="48" kern="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SKILL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76825" y="3200400"/>
            <a:ext cx="47625" cy="613172"/>
          </a:xfrm>
          <a:prstGeom prst="rect">
            <a:avLst/>
          </a:prstGeom>
          <a:solidFill>
            <a:srgbClr val="18A99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286375" y="3171825"/>
            <a:ext cx="2647950" cy="668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4"/>
              </a:lnSpc>
              <a:buNone/>
            </a:pPr>
            <a:r>
              <a:rPr lang="en-US" sz="2100" b="1" dirty="0">
                <a:solidFill>
                  <a:srgbClr val="172033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Comment réaliser une tâche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5076825" y="4080272"/>
            <a:ext cx="285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2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Lire · planifier · implémenter · contrôler · rendre compte</a:t>
            </a:r>
            <a:endParaRPr lang="en-US" sz="132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481512"/>
            <a:ext cx="273709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Les skills encapsulent une méthode réutilisable</a:t>
            </a:r>
            <a:endParaRPr lang="en-US" sz="975" dirty="0"/>
          </a:p>
        </p:txBody>
      </p:sp>
      <p:sp>
        <p:nvSpPr>
          <p:cNvPr id="15" name="Text 13"/>
          <p:cNvSpPr txBox="1"/>
          <p:nvPr/>
        </p:nvSpPr>
        <p:spPr>
          <a:xfrm>
            <a:off x="7639794" y="4481512"/>
            <a:ext cx="66600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08 · 2 min</a:t>
            </a:r>
            <a:endParaRPr lang="en-US" sz="9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493044"/>
            <a:ext cx="66675" cy="2271713"/>
          </a:xfrm>
          <a:prstGeom prst="rect">
            <a:avLst/>
          </a:prstGeom>
          <a:solidFill>
            <a:srgbClr val="5B5CE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476375" y="1674019"/>
            <a:ext cx="196572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b="1" spc="113" kern="0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LIVE DEMO · 4 min max</a:t>
            </a:r>
            <a:endParaRPr lang="en-US" sz="1125" dirty="0"/>
          </a:p>
        </p:txBody>
      </p:sp>
      <p:sp>
        <p:nvSpPr>
          <p:cNvPr id="4" name="Text 2"/>
          <p:cNvSpPr txBox="1"/>
          <p:nvPr/>
        </p:nvSpPr>
        <p:spPr>
          <a:xfrm>
            <a:off x="1476375" y="2059781"/>
            <a:ext cx="6467475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spc="-56" kern="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Démonstration 2 — obtenir un plan avant d’obtenir du code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1476375" y="2964656"/>
            <a:ext cx="6519934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75" b="1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Résultat attendu :</a:t>
            </a:r>
            <a:pPr algn="l" indent="0" marL="0">
              <a:lnSpc>
                <a:spcPts val="1800"/>
              </a:lnSpc>
              <a:buNone/>
            </a:pPr>
            <a:r>
              <a:rPr lang="en-US" sz="15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critères, fichiers, tests, risques et point d’approbation humaine</a:t>
            </a:r>
            <a:endParaRPr lang="en-US" sz="15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" y="790575"/>
            <a:ext cx="2519362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50" b="1" spc="137" kern="0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IMPLÉMENTATION CONTRÔLÉE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125885" y="1066800"/>
            <a:ext cx="6244530" cy="466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700" spc="-94" kern="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 petit changement, visible avant et après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1143000" y="2275284"/>
            <a:ext cx="659904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spc="48" kern="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AVANT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43000" y="2599134"/>
            <a:ext cx="2683818" cy="840581"/>
          </a:xfrm>
          <a:prstGeom prst="roundRect">
            <a:avLst>
              <a:gd name="adj" fmla="val 13598"/>
            </a:avLst>
          </a:prstGeom>
          <a:solidFill>
            <a:srgbClr val="11182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4450" y="2751534"/>
            <a:ext cx="2359968" cy="5286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dirty="0">
                <a:solidFill>
                  <a:srgbClr val="F3F4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@app.get("/tasks")</a:t>
            </a:r>
            <a:br/>
            <a:pPr algn="l" indent="0" marL="0">
              <a:lnSpc>
                <a:spcPts val="1406"/>
              </a:lnSpc>
              <a:buNone/>
            </a:pPr>
            <a:r>
              <a:rPr lang="en-US" sz="1125" dirty="0">
                <a:solidFill>
                  <a:srgbClr val="F3F4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def list_tasks():</a:t>
            </a:r>
            <a:br/>
            <a:pPr algn="l" indent="0" marL="0">
              <a:lnSpc>
                <a:spcPts val="1406"/>
              </a:lnSpc>
              <a:buNone/>
            </a:pPr>
            <a:r>
              <a:rPr lang="en-US" sz="1125" dirty="0">
                <a:solidFill>
                  <a:srgbClr val="F3F4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return tasks</a:t>
            </a:r>
            <a:endParaRPr lang="en-US" sz="1125" dirty="0"/>
          </a:p>
        </p:txBody>
      </p:sp>
      <p:sp>
        <p:nvSpPr>
          <p:cNvPr id="7" name="Text 5"/>
          <p:cNvSpPr txBox="1"/>
          <p:nvPr/>
        </p:nvSpPr>
        <p:spPr>
          <a:xfrm>
            <a:off x="4130725" y="2614613"/>
            <a:ext cx="401687" cy="466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2700" dirty="0">
                <a:solidFill>
                  <a:srgbClr val="18A999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→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4836468" y="1828800"/>
            <a:ext cx="63549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spc="48" kern="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APRÈS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836468" y="2152650"/>
            <a:ext cx="3355032" cy="1733550"/>
          </a:xfrm>
          <a:prstGeom prst="roundRect">
            <a:avLst>
              <a:gd name="adj" fmla="val 6593"/>
            </a:avLst>
          </a:prstGeom>
          <a:solidFill>
            <a:srgbClr val="11182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07918" y="2305050"/>
            <a:ext cx="3093116" cy="1421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dirty="0">
                <a:solidFill>
                  <a:srgbClr val="F3F4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@app.get("/tasks")</a:t>
            </a:r>
            <a:br/>
            <a:pPr algn="l" indent="0" marL="0">
              <a:lnSpc>
                <a:spcPts val="1406"/>
              </a:lnSpc>
              <a:buNone/>
            </a:pPr>
            <a:r>
              <a:rPr lang="en-US" sz="1125" dirty="0">
                <a:solidFill>
                  <a:srgbClr val="F3F4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def list_tasks(status: TaskStatus | None = None):</a:t>
            </a:r>
            <a:br/>
            <a:pPr algn="l" indent="0" marL="0">
              <a:lnSpc>
                <a:spcPts val="1406"/>
              </a:lnSpc>
              <a:buNone/>
            </a:pPr>
            <a:r>
              <a:rPr lang="en-US" sz="1125" dirty="0">
                <a:solidFill>
                  <a:srgbClr val="F3F4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status is None:</a:t>
            </a:r>
            <a:br/>
            <a:pPr algn="l" indent="0" marL="0">
              <a:lnSpc>
                <a:spcPts val="1406"/>
              </a:lnSpc>
              <a:buNone/>
            </a:pPr>
            <a:r>
              <a:rPr lang="en-US" sz="1125" dirty="0">
                <a:solidFill>
                  <a:srgbClr val="F3F4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return tasks</a:t>
            </a:r>
            <a:br/>
            <a:pPr algn="l" indent="0" marL="0">
              <a:lnSpc>
                <a:spcPts val="1406"/>
              </a:lnSpc>
              <a:buNone/>
            </a:pPr>
            <a:r>
              <a:rPr lang="en-US" sz="1125" dirty="0">
                <a:solidFill>
                  <a:srgbClr val="F3F4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return [task for task in tasks</a:t>
            </a:r>
            <a:br/>
            <a:pPr algn="l" indent="0" marL="0">
              <a:lnSpc>
                <a:spcPts val="1406"/>
              </a:lnSpc>
              <a:buNone/>
            </a:pPr>
            <a:r>
              <a:rPr lang="en-US" sz="1125" dirty="0">
                <a:solidFill>
                  <a:srgbClr val="F3F4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if task.status == status]</a:t>
            </a:r>
            <a:endParaRPr lang="en-US" sz="1125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4481512"/>
            <a:ext cx="324475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Le code n’est qu’une étape : tests, diff et décision suivent</a:t>
            </a:r>
            <a:endParaRPr lang="en-US" sz="975" dirty="0"/>
          </a:p>
        </p:txBody>
      </p:sp>
      <p:sp>
        <p:nvSpPr>
          <p:cNvPr id="12" name="Text 10"/>
          <p:cNvSpPr txBox="1"/>
          <p:nvPr/>
        </p:nvSpPr>
        <p:spPr>
          <a:xfrm>
            <a:off x="7639794" y="4481512"/>
            <a:ext cx="66600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10 · 4 min</a:t>
            </a:r>
            <a:endParaRPr lang="en-US" sz="97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" y="790575"/>
            <a:ext cx="238139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50" b="1" spc="137" kern="0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CONTRÔLES DÉTERMINISTES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125885" y="1066800"/>
            <a:ext cx="7084665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spc="-94" kern="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Le résumé de l’agent ne remplace pas les contrôles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43000" y="2428875"/>
            <a:ext cx="7048500" cy="1446609"/>
          </a:xfrm>
          <a:prstGeom prst="roundRect">
            <a:avLst>
              <a:gd name="adj" fmla="val 7901"/>
            </a:avLst>
          </a:prstGeom>
          <a:solidFill>
            <a:srgbClr val="11182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71600" y="2638425"/>
            <a:ext cx="81974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18A999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✓</a:t>
            </a:r>
            <a:pPr algn="l" indent="0" marL="0">
              <a:buNone/>
            </a:pPr>
            <a:r>
              <a:rPr lang="en-US" sz="1425" dirty="0">
                <a:solidFill>
                  <a:srgbClr val="F3F4F6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pytest</a:t>
            </a:r>
            <a:endParaRPr lang="en-US" sz="1425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895302"/>
            <a:ext cx="1187946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18A999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✓</a:t>
            </a:r>
            <a:pPr algn="l" indent="0" marL="0">
              <a:buNone/>
            </a:pPr>
            <a:r>
              <a:rPr lang="en-US" sz="1425" dirty="0">
                <a:solidFill>
                  <a:srgbClr val="F3F4F6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ruff check .</a:t>
            </a:r>
            <a:endParaRPr lang="en-US" sz="1425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3152180"/>
            <a:ext cx="192792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18A999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✓</a:t>
            </a:r>
            <a:pPr algn="l" indent="0" marL="0">
              <a:buNone/>
            </a:pPr>
            <a:r>
              <a:rPr lang="en-US" sz="1425" dirty="0">
                <a:solidFill>
                  <a:srgbClr val="F3F4F6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ruff format --check .</a:t>
            </a:r>
            <a:endParaRPr lang="en-US" sz="1425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3409057"/>
            <a:ext cx="1110258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425" dirty="0">
                <a:solidFill>
                  <a:srgbClr val="18A999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✓</a:t>
            </a:r>
            <a:pPr algn="l" indent="0" marL="0">
              <a:buNone/>
            </a:pPr>
            <a:r>
              <a:rPr lang="en-US" sz="1425" dirty="0">
                <a:solidFill>
                  <a:srgbClr val="F3F4F6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mypy app</a:t>
            </a:r>
            <a:endParaRPr lang="en-US" sz="1425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4170759"/>
            <a:ext cx="124360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20" dirty="0">
                <a:solidFill>
                  <a:srgbClr val="18A999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Contrôle réussi</a:t>
            </a:r>
            <a:endParaRPr lang="en-US" sz="132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4479280"/>
            <a:ext cx="25506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Une sortie réellement exécutée.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4170759"/>
            <a:ext cx="172075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20" dirty="0">
                <a:solidFill>
                  <a:srgbClr val="D97706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Non exécuté ≠ réussi</a:t>
            </a:r>
            <a:endParaRPr lang="en-US" sz="132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4479280"/>
            <a:ext cx="3075087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 manque de preuve reste une limite.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4481512"/>
            <a:ext cx="242217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La preuve vient des commandes et du diff</a:t>
            </a:r>
            <a:endParaRPr lang="en-US" sz="975" dirty="0"/>
          </a:p>
        </p:txBody>
      </p:sp>
      <p:sp>
        <p:nvSpPr>
          <p:cNvPr id="14" name="Text 12"/>
          <p:cNvSpPr txBox="1"/>
          <p:nvPr/>
        </p:nvSpPr>
        <p:spPr>
          <a:xfrm>
            <a:off x="7639794" y="4481512"/>
            <a:ext cx="66600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11 · 4 min</a:t>
            </a:r>
            <a:endParaRPr lang="en-US" sz="97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" y="790575"/>
            <a:ext cx="84221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50" b="1" spc="137" kern="0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HARNAIS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125885" y="1066800"/>
            <a:ext cx="7084665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spc="-94" kern="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Plus l’agent peut agir, plus le harnais doit être explicite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43000" y="2105025"/>
            <a:ext cx="7048500" cy="466725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2105025"/>
            <a:ext cx="7048500" cy="9525"/>
          </a:xfrm>
          <a:prstGeom prst="rect">
            <a:avLst/>
          </a:prstGeom>
          <a:solidFill>
            <a:srgbClr val="DFE4EC"/>
          </a:solidFill>
          <a:ln/>
        </p:spPr>
      </p:sp>
      <p:sp>
        <p:nvSpPr>
          <p:cNvPr id="6" name="Shape 4"/>
          <p:cNvSpPr/>
          <p:nvPr/>
        </p:nvSpPr>
        <p:spPr>
          <a:xfrm>
            <a:off x="8181975" y="2105025"/>
            <a:ext cx="9525" cy="466725"/>
          </a:xfrm>
          <a:prstGeom prst="rect">
            <a:avLst/>
          </a:prstGeom>
          <a:solidFill>
            <a:srgbClr val="DFE4EC"/>
          </a:solidFill>
          <a:ln/>
        </p:spPr>
      </p:sp>
      <p:sp>
        <p:nvSpPr>
          <p:cNvPr id="7" name="Shape 5"/>
          <p:cNvSpPr/>
          <p:nvPr/>
        </p:nvSpPr>
        <p:spPr>
          <a:xfrm>
            <a:off x="1143000" y="2562225"/>
            <a:ext cx="7048500" cy="9525"/>
          </a:xfrm>
          <a:prstGeom prst="rect">
            <a:avLst/>
          </a:prstGeom>
          <a:solidFill>
            <a:srgbClr val="DFE4EC"/>
          </a:solidFill>
          <a:ln/>
        </p:spPr>
      </p:sp>
      <p:sp>
        <p:nvSpPr>
          <p:cNvPr id="8" name="Shape 6"/>
          <p:cNvSpPr/>
          <p:nvPr/>
        </p:nvSpPr>
        <p:spPr>
          <a:xfrm>
            <a:off x="1143000" y="2105025"/>
            <a:ext cx="85725" cy="466725"/>
          </a:xfrm>
          <a:prstGeom prst="rect">
            <a:avLst/>
          </a:prstGeom>
          <a:solidFill>
            <a:srgbClr val="5B5CE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38275" y="2240756"/>
            <a:ext cx="28589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05</a:t>
            </a:r>
            <a:endParaRPr lang="en-US" sz="1125" dirty="0"/>
          </a:p>
        </p:txBody>
      </p:sp>
      <p:sp>
        <p:nvSpPr>
          <p:cNvPr id="10" name="Text 8"/>
          <p:cNvSpPr txBox="1"/>
          <p:nvPr/>
        </p:nvSpPr>
        <p:spPr>
          <a:xfrm>
            <a:off x="2181225" y="2222153"/>
            <a:ext cx="128542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Revue humaine</a:t>
            </a:r>
            <a:endParaRPr lang="en-US" sz="1320" dirty="0"/>
          </a:p>
        </p:txBody>
      </p:sp>
      <p:sp>
        <p:nvSpPr>
          <p:cNvPr id="11" name="Text 9"/>
          <p:cNvSpPr txBox="1"/>
          <p:nvPr/>
        </p:nvSpPr>
        <p:spPr>
          <a:xfrm>
            <a:off x="4795986" y="2219325"/>
            <a:ext cx="181004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diff · critères · décision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143000" y="2619375"/>
            <a:ext cx="7048500" cy="466725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000" y="2619375"/>
            <a:ext cx="7048500" cy="9525"/>
          </a:xfrm>
          <a:prstGeom prst="rect">
            <a:avLst/>
          </a:prstGeom>
          <a:solidFill>
            <a:srgbClr val="DFE4EC"/>
          </a:solidFill>
          <a:ln/>
        </p:spPr>
      </p:sp>
      <p:sp>
        <p:nvSpPr>
          <p:cNvPr id="14" name="Shape 12"/>
          <p:cNvSpPr/>
          <p:nvPr/>
        </p:nvSpPr>
        <p:spPr>
          <a:xfrm>
            <a:off x="8181975" y="2619375"/>
            <a:ext cx="9525" cy="466725"/>
          </a:xfrm>
          <a:prstGeom prst="rect">
            <a:avLst/>
          </a:prstGeom>
          <a:solidFill>
            <a:srgbClr val="DFE4EC"/>
          </a:solidFill>
          <a:ln/>
        </p:spPr>
      </p:sp>
      <p:sp>
        <p:nvSpPr>
          <p:cNvPr id="15" name="Shape 13"/>
          <p:cNvSpPr/>
          <p:nvPr/>
        </p:nvSpPr>
        <p:spPr>
          <a:xfrm>
            <a:off x="1143000" y="3076575"/>
            <a:ext cx="7048500" cy="9525"/>
          </a:xfrm>
          <a:prstGeom prst="rect">
            <a:avLst/>
          </a:prstGeom>
          <a:solidFill>
            <a:srgbClr val="DFE4EC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3000" y="2619375"/>
            <a:ext cx="85725" cy="466725"/>
          </a:xfrm>
          <a:prstGeom prst="rect">
            <a:avLst/>
          </a:prstGeom>
          <a:solidFill>
            <a:srgbClr val="18A999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438275" y="2755106"/>
            <a:ext cx="28589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04</a:t>
            </a:r>
            <a:endParaRPr lang="en-US" sz="1125" dirty="0"/>
          </a:p>
        </p:txBody>
      </p:sp>
      <p:sp>
        <p:nvSpPr>
          <p:cNvPr id="18" name="Text 16"/>
          <p:cNvSpPr txBox="1"/>
          <p:nvPr/>
        </p:nvSpPr>
        <p:spPr>
          <a:xfrm>
            <a:off x="2181225" y="2736503"/>
            <a:ext cx="12388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Tests, linter, CI</a:t>
            </a:r>
            <a:endParaRPr lang="en-US" sz="1320" dirty="0"/>
          </a:p>
        </p:txBody>
      </p:sp>
      <p:sp>
        <p:nvSpPr>
          <p:cNvPr id="19" name="Text 17"/>
          <p:cNvSpPr txBox="1"/>
          <p:nvPr/>
        </p:nvSpPr>
        <p:spPr>
          <a:xfrm>
            <a:off x="4795986" y="2733675"/>
            <a:ext cx="187210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résultats déterministes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1143000" y="3133725"/>
            <a:ext cx="7048500" cy="466725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3000" y="3133725"/>
            <a:ext cx="7048500" cy="9525"/>
          </a:xfrm>
          <a:prstGeom prst="rect">
            <a:avLst/>
          </a:prstGeom>
          <a:solidFill>
            <a:srgbClr val="DFE4EC"/>
          </a:solidFill>
          <a:ln/>
        </p:spPr>
      </p:sp>
      <p:sp>
        <p:nvSpPr>
          <p:cNvPr id="22" name="Shape 20"/>
          <p:cNvSpPr/>
          <p:nvPr/>
        </p:nvSpPr>
        <p:spPr>
          <a:xfrm>
            <a:off x="8181975" y="3133725"/>
            <a:ext cx="9525" cy="466725"/>
          </a:xfrm>
          <a:prstGeom prst="rect">
            <a:avLst/>
          </a:prstGeom>
          <a:solidFill>
            <a:srgbClr val="DFE4EC"/>
          </a:solidFill>
          <a:ln/>
        </p:spPr>
      </p:sp>
      <p:sp>
        <p:nvSpPr>
          <p:cNvPr id="23" name="Shape 21"/>
          <p:cNvSpPr/>
          <p:nvPr/>
        </p:nvSpPr>
        <p:spPr>
          <a:xfrm>
            <a:off x="1143000" y="3590925"/>
            <a:ext cx="7048500" cy="9525"/>
          </a:xfrm>
          <a:prstGeom prst="rect">
            <a:avLst/>
          </a:prstGeom>
          <a:solidFill>
            <a:srgbClr val="DFE4EC"/>
          </a:solidFill>
          <a:ln/>
        </p:spPr>
      </p:sp>
      <p:sp>
        <p:nvSpPr>
          <p:cNvPr id="24" name="Shape 22"/>
          <p:cNvSpPr/>
          <p:nvPr/>
        </p:nvSpPr>
        <p:spPr>
          <a:xfrm>
            <a:off x="1143000" y="3133725"/>
            <a:ext cx="85725" cy="466725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438275" y="3269456"/>
            <a:ext cx="28589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03</a:t>
            </a:r>
            <a:endParaRPr lang="en-US" sz="1125" dirty="0"/>
          </a:p>
        </p:txBody>
      </p:sp>
      <p:sp>
        <p:nvSpPr>
          <p:cNvPr id="26" name="Text 24"/>
          <p:cNvSpPr txBox="1"/>
          <p:nvPr/>
        </p:nvSpPr>
        <p:spPr>
          <a:xfrm>
            <a:off x="2181225" y="3250853"/>
            <a:ext cx="172476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Outils et permissions</a:t>
            </a:r>
            <a:endParaRPr lang="en-US" sz="1320" dirty="0"/>
          </a:p>
        </p:txBody>
      </p:sp>
      <p:sp>
        <p:nvSpPr>
          <p:cNvPr id="27" name="Text 25"/>
          <p:cNvSpPr txBox="1"/>
          <p:nvPr/>
        </p:nvSpPr>
        <p:spPr>
          <a:xfrm>
            <a:off x="4795986" y="3248025"/>
            <a:ext cx="233436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agir dans un périmètre borné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1143000" y="3648075"/>
            <a:ext cx="7048500" cy="466725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1143000" y="3648075"/>
            <a:ext cx="7048500" cy="9525"/>
          </a:xfrm>
          <a:prstGeom prst="rect">
            <a:avLst/>
          </a:prstGeom>
          <a:solidFill>
            <a:srgbClr val="DFE4EC"/>
          </a:solidFill>
          <a:ln/>
        </p:spPr>
      </p:sp>
      <p:sp>
        <p:nvSpPr>
          <p:cNvPr id="30" name="Shape 28"/>
          <p:cNvSpPr/>
          <p:nvPr/>
        </p:nvSpPr>
        <p:spPr>
          <a:xfrm>
            <a:off x="8181975" y="3648075"/>
            <a:ext cx="9525" cy="466725"/>
          </a:xfrm>
          <a:prstGeom prst="rect">
            <a:avLst/>
          </a:prstGeom>
          <a:solidFill>
            <a:srgbClr val="DFE4EC"/>
          </a:solidFill>
          <a:ln/>
        </p:spPr>
      </p:sp>
      <p:sp>
        <p:nvSpPr>
          <p:cNvPr id="31" name="Shape 29"/>
          <p:cNvSpPr/>
          <p:nvPr/>
        </p:nvSpPr>
        <p:spPr>
          <a:xfrm>
            <a:off x="1143000" y="4105275"/>
            <a:ext cx="7048500" cy="9525"/>
          </a:xfrm>
          <a:prstGeom prst="rect">
            <a:avLst/>
          </a:prstGeom>
          <a:solidFill>
            <a:srgbClr val="DFE4EC"/>
          </a:solidFill>
          <a:ln/>
        </p:spPr>
      </p:sp>
      <p:sp>
        <p:nvSpPr>
          <p:cNvPr id="32" name="Shape 30"/>
          <p:cNvSpPr/>
          <p:nvPr/>
        </p:nvSpPr>
        <p:spPr>
          <a:xfrm>
            <a:off x="1143000" y="3648075"/>
            <a:ext cx="85725" cy="466725"/>
          </a:xfrm>
          <a:prstGeom prst="rect">
            <a:avLst/>
          </a:prstGeom>
          <a:solidFill>
            <a:srgbClr val="7B61F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438275" y="3783806"/>
            <a:ext cx="28589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02</a:t>
            </a:r>
            <a:endParaRPr lang="en-US" sz="1125" dirty="0"/>
          </a:p>
        </p:txBody>
      </p:sp>
      <p:sp>
        <p:nvSpPr>
          <p:cNvPr id="34" name="Text 32"/>
          <p:cNvSpPr txBox="1"/>
          <p:nvPr/>
        </p:nvSpPr>
        <p:spPr>
          <a:xfrm>
            <a:off x="2181225" y="3765203"/>
            <a:ext cx="1174998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Rules et skills</a:t>
            </a:r>
            <a:endParaRPr lang="en-US" sz="1320" dirty="0"/>
          </a:p>
        </p:txBody>
      </p:sp>
      <p:sp>
        <p:nvSpPr>
          <p:cNvPr id="35" name="Text 33"/>
          <p:cNvSpPr txBox="1"/>
          <p:nvPr/>
        </p:nvSpPr>
        <p:spPr>
          <a:xfrm>
            <a:off x="4795986" y="3762375"/>
            <a:ext cx="16162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attentes + méthode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1143000" y="4162425"/>
            <a:ext cx="7048500" cy="466725"/>
          </a:xfrm>
          <a:prstGeom prst="roundRect">
            <a:avLst>
              <a:gd name="adj" fmla="val 20408"/>
            </a:avLst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1143000" y="4162425"/>
            <a:ext cx="7048500" cy="9525"/>
          </a:xfrm>
          <a:prstGeom prst="rect">
            <a:avLst/>
          </a:prstGeom>
          <a:solidFill>
            <a:srgbClr val="DFE4EC"/>
          </a:solidFill>
          <a:ln/>
        </p:spPr>
      </p:sp>
      <p:sp>
        <p:nvSpPr>
          <p:cNvPr id="38" name="Shape 36"/>
          <p:cNvSpPr/>
          <p:nvPr/>
        </p:nvSpPr>
        <p:spPr>
          <a:xfrm>
            <a:off x="8181975" y="4162425"/>
            <a:ext cx="9525" cy="466725"/>
          </a:xfrm>
          <a:prstGeom prst="rect">
            <a:avLst/>
          </a:prstGeom>
          <a:solidFill>
            <a:srgbClr val="DFE4EC"/>
          </a:solidFill>
          <a:ln/>
        </p:spPr>
      </p:sp>
      <p:sp>
        <p:nvSpPr>
          <p:cNvPr id="39" name="Shape 37"/>
          <p:cNvSpPr/>
          <p:nvPr/>
        </p:nvSpPr>
        <p:spPr>
          <a:xfrm>
            <a:off x="1143000" y="4619625"/>
            <a:ext cx="7048500" cy="9525"/>
          </a:xfrm>
          <a:prstGeom prst="rect">
            <a:avLst/>
          </a:prstGeom>
          <a:solidFill>
            <a:srgbClr val="DFE4EC"/>
          </a:solidFill>
          <a:ln/>
        </p:spPr>
      </p:sp>
      <p:sp>
        <p:nvSpPr>
          <p:cNvPr id="40" name="Shape 38"/>
          <p:cNvSpPr/>
          <p:nvPr/>
        </p:nvSpPr>
        <p:spPr>
          <a:xfrm>
            <a:off x="1143000" y="4162425"/>
            <a:ext cx="85725" cy="466725"/>
          </a:xfrm>
          <a:prstGeom prst="rect">
            <a:avLst/>
          </a:prstGeom>
          <a:solidFill>
            <a:srgbClr val="5B5CE2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438275" y="4298156"/>
            <a:ext cx="28589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01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2181225" y="4279553"/>
            <a:ext cx="80248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Contexte</a:t>
            </a:r>
            <a:endParaRPr lang="en-US" sz="1320" dirty="0"/>
          </a:p>
        </p:txBody>
      </p:sp>
      <p:sp>
        <p:nvSpPr>
          <p:cNvPr id="43" name="Text 41"/>
          <p:cNvSpPr txBox="1"/>
          <p:nvPr/>
        </p:nvSpPr>
        <p:spPr>
          <a:xfrm>
            <a:off x="4795986" y="4276725"/>
            <a:ext cx="230207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code · demande · contraintes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7639794" y="4481512"/>
            <a:ext cx="66600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12 · 3 min</a:t>
            </a:r>
            <a:endParaRPr lang="en-US" sz="97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1493044"/>
            <a:ext cx="66675" cy="2271713"/>
          </a:xfrm>
          <a:prstGeom prst="rect">
            <a:avLst/>
          </a:prstGeom>
          <a:solidFill>
            <a:srgbClr val="5B5CE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476375" y="1674019"/>
            <a:ext cx="196572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25" b="1" spc="113" kern="0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LIVE DEMO · 3 min max</a:t>
            </a:r>
            <a:endParaRPr lang="en-US" sz="1125" dirty="0"/>
          </a:p>
        </p:txBody>
      </p:sp>
      <p:sp>
        <p:nvSpPr>
          <p:cNvPr id="4" name="Text 2"/>
          <p:cNvSpPr txBox="1"/>
          <p:nvPr/>
        </p:nvSpPr>
        <p:spPr>
          <a:xfrm>
            <a:off x="1476375" y="2059781"/>
            <a:ext cx="6467475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spc="-56" kern="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Démonstration 4 — comparer le résultat à la demande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1476375" y="2964656"/>
            <a:ext cx="6525095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75" b="1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Résultat attendu :</a:t>
            </a:r>
            <a:pPr algn="l" indent="0" marL="0">
              <a:lnSpc>
                <a:spcPts val="1800"/>
              </a:lnSpc>
              <a:buNone/>
            </a:pPr>
            <a:r>
              <a:rPr lang="en-US" sz="15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demande, plan, rules, diff et résultats comparés sans modifier de fichier</a:t>
            </a:r>
            <a:endParaRPr lang="en-US" sz="157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" y="790575"/>
            <a:ext cx="1245394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50" b="1" spc="137" kern="0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FRAMEWORKS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125885" y="1066800"/>
            <a:ext cx="5439370" cy="4667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2700" spc="-94" kern="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 framework formalise un workflow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43000" y="2085975"/>
            <a:ext cx="1626840" cy="2495550"/>
          </a:xfrm>
          <a:prstGeom prst="roundRect">
            <a:avLst>
              <a:gd name="adj" fmla="val 702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43025" y="2295525"/>
            <a:ext cx="80947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spc="48" kern="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SPEC KIT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43025" y="2686050"/>
            <a:ext cx="124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2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spec → plan → tasks → implement / converge</a:t>
            </a:r>
            <a:endParaRPr lang="en-US" sz="1320" dirty="0"/>
          </a:p>
        </p:txBody>
      </p:sp>
      <p:sp>
        <p:nvSpPr>
          <p:cNvPr id="7" name="Text 5"/>
          <p:cNvSpPr txBox="1"/>
          <p:nvPr/>
        </p:nvSpPr>
        <p:spPr>
          <a:xfrm>
            <a:off x="1343025" y="3771900"/>
            <a:ext cx="1245840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Pour structurer l’intention.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2941290" y="2085975"/>
            <a:ext cx="1626840" cy="2495550"/>
          </a:xfrm>
          <a:prstGeom prst="roundRect">
            <a:avLst>
              <a:gd name="adj" fmla="val 702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41315" y="2295525"/>
            <a:ext cx="959197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spc="48" kern="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OPENSPEC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141315" y="2686050"/>
            <a:ext cx="124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2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explore → propose → apply → archive</a:t>
            </a:r>
            <a:endParaRPr lang="en-US" sz="1320" dirty="0"/>
          </a:p>
        </p:txBody>
      </p:sp>
      <p:sp>
        <p:nvSpPr>
          <p:cNvPr id="11" name="Text 9"/>
          <p:cNvSpPr txBox="1"/>
          <p:nvPr/>
        </p:nvSpPr>
        <p:spPr>
          <a:xfrm>
            <a:off x="3141315" y="3543300"/>
            <a:ext cx="1245840" cy="676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Pour aligner avant de construire.</a:t>
            </a:r>
            <a:endParaRPr lang="en-US" sz="1275" dirty="0"/>
          </a:p>
        </p:txBody>
      </p:sp>
      <p:sp>
        <p:nvSpPr>
          <p:cNvPr id="12" name="Shape 10"/>
          <p:cNvSpPr/>
          <p:nvPr/>
        </p:nvSpPr>
        <p:spPr>
          <a:xfrm>
            <a:off x="4739580" y="2085975"/>
            <a:ext cx="1653629" cy="2495550"/>
          </a:xfrm>
          <a:prstGeom prst="roundRect">
            <a:avLst>
              <a:gd name="adj" fmla="val 6912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939605" y="2295525"/>
            <a:ext cx="1332905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spc="48" kern="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BMAD METHOD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939605" y="2686050"/>
            <a:ext cx="127262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2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Workflows adaptatifs par rôles</a:t>
            </a:r>
            <a:endParaRPr lang="en-US" sz="1320" dirty="0"/>
          </a:p>
        </p:txBody>
      </p:sp>
      <p:sp>
        <p:nvSpPr>
          <p:cNvPr id="15" name="Text 13"/>
          <p:cNvSpPr txBox="1"/>
          <p:nvPr/>
        </p:nvSpPr>
        <p:spPr>
          <a:xfrm>
            <a:off x="4939605" y="3543300"/>
            <a:ext cx="1310729" cy="676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Pour industrialiser progressivement.</a:t>
            </a:r>
            <a:endParaRPr lang="en-US" sz="1275" dirty="0"/>
          </a:p>
        </p:txBody>
      </p:sp>
      <p:sp>
        <p:nvSpPr>
          <p:cNvPr id="16" name="Shape 14"/>
          <p:cNvSpPr/>
          <p:nvPr/>
        </p:nvSpPr>
        <p:spPr>
          <a:xfrm>
            <a:off x="6564660" y="2085975"/>
            <a:ext cx="1626840" cy="2495550"/>
          </a:xfrm>
          <a:prstGeom prst="roundRect">
            <a:avLst>
              <a:gd name="adj" fmla="val 702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4685" y="2295525"/>
            <a:ext cx="515094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spc="48" kern="0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AIDD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64685" y="2686050"/>
            <a:ext cx="124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2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Cycle logiciel plus large</a:t>
            </a:r>
            <a:endParaRPr lang="en-US" sz="1320" dirty="0"/>
          </a:p>
        </p:txBody>
      </p:sp>
      <p:sp>
        <p:nvSpPr>
          <p:cNvPr id="19" name="Text 17"/>
          <p:cNvSpPr txBox="1"/>
          <p:nvPr/>
        </p:nvSpPr>
        <p:spPr>
          <a:xfrm>
            <a:off x="6764685" y="3314700"/>
            <a:ext cx="1245840" cy="44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Skills, agents, règles et revue.</a:t>
            </a:r>
            <a:endParaRPr lang="en-US" sz="1275" dirty="0"/>
          </a:p>
        </p:txBody>
      </p:sp>
      <p:sp>
        <p:nvSpPr>
          <p:cNvPr id="20" name="Shape 18"/>
          <p:cNvSpPr/>
          <p:nvPr/>
        </p:nvSpPr>
        <p:spPr>
          <a:xfrm>
            <a:off x="1143000" y="5095875"/>
            <a:ext cx="47625" cy="161925"/>
          </a:xfrm>
          <a:prstGeom prst="rect">
            <a:avLst/>
          </a:prstGeom>
          <a:solidFill>
            <a:srgbClr val="5B5CE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352550" y="5048250"/>
            <a:ext cx="6858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875" b="1" dirty="0">
                <a:solidFill>
                  <a:srgbClr val="172033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Aucun framework ne remplace le contexte, le jugement ou les contrôles.</a:t>
            </a:r>
            <a:endParaRPr lang="en-US" sz="1875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4481512"/>
            <a:ext cx="214580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Accélérateur facultatif, pas prérequis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7639794" y="4481512"/>
            <a:ext cx="66600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14 · 3 min</a:t>
            </a:r>
            <a:endParaRPr lang="en-US" sz="97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3000" y="790575"/>
            <a:ext cx="939403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50" b="1" spc="137" kern="0" dirty="0">
                <a:solidFill>
                  <a:srgbClr val="5B5CE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SYNTHÈSE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1125885" y="1066800"/>
            <a:ext cx="7084665" cy="847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700" spc="-94" kern="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Commencer petit. Renforcer progressivement le harnais.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143000" y="2466975"/>
            <a:ext cx="1287661" cy="1356271"/>
          </a:xfrm>
          <a:prstGeom prst="roundRect">
            <a:avLst>
              <a:gd name="adj" fmla="val 887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04925" y="2638425"/>
            <a:ext cx="315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01</a:t>
            </a:r>
            <a:endParaRPr lang="en-US" sz="1320" dirty="0"/>
          </a:p>
        </p:txBody>
      </p:sp>
      <p:sp>
        <p:nvSpPr>
          <p:cNvPr id="6" name="Text 4"/>
          <p:cNvSpPr txBox="1"/>
          <p:nvPr/>
        </p:nvSpPr>
        <p:spPr>
          <a:xfrm>
            <a:off x="1304925" y="3051721"/>
            <a:ext cx="9828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2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Donner du contexte</a:t>
            </a:r>
            <a:endParaRPr lang="en-US" sz="1320" dirty="0"/>
          </a:p>
        </p:txBody>
      </p:sp>
      <p:sp>
        <p:nvSpPr>
          <p:cNvPr id="7" name="Shape 5"/>
          <p:cNvSpPr/>
          <p:nvPr/>
        </p:nvSpPr>
        <p:spPr>
          <a:xfrm>
            <a:off x="2583061" y="2466975"/>
            <a:ext cx="1287810" cy="1356271"/>
          </a:xfrm>
          <a:prstGeom prst="roundRect">
            <a:avLst>
              <a:gd name="adj" fmla="val 887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744986" y="2638425"/>
            <a:ext cx="315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02</a:t>
            </a:r>
            <a:endParaRPr lang="en-US" sz="1320" dirty="0"/>
          </a:p>
        </p:txBody>
      </p:sp>
      <p:sp>
        <p:nvSpPr>
          <p:cNvPr id="9" name="Text 7"/>
          <p:cNvSpPr txBox="1"/>
          <p:nvPr/>
        </p:nvSpPr>
        <p:spPr>
          <a:xfrm>
            <a:off x="2744986" y="3051721"/>
            <a:ext cx="9830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2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Écrire les rules</a:t>
            </a:r>
            <a:endParaRPr lang="en-US" sz="1320" dirty="0"/>
          </a:p>
        </p:txBody>
      </p:sp>
      <p:sp>
        <p:nvSpPr>
          <p:cNvPr id="10" name="Shape 8"/>
          <p:cNvSpPr/>
          <p:nvPr/>
        </p:nvSpPr>
        <p:spPr>
          <a:xfrm>
            <a:off x="4023271" y="2466975"/>
            <a:ext cx="1287810" cy="1356271"/>
          </a:xfrm>
          <a:prstGeom prst="roundRect">
            <a:avLst>
              <a:gd name="adj" fmla="val 887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85196" y="2638425"/>
            <a:ext cx="315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03</a:t>
            </a:r>
            <a:endParaRPr lang="en-US" sz="1320" dirty="0"/>
          </a:p>
        </p:txBody>
      </p:sp>
      <p:sp>
        <p:nvSpPr>
          <p:cNvPr id="12" name="Text 10"/>
          <p:cNvSpPr txBox="1"/>
          <p:nvPr/>
        </p:nvSpPr>
        <p:spPr>
          <a:xfrm>
            <a:off x="4185196" y="3051721"/>
            <a:ext cx="9830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2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Utiliser des skills</a:t>
            </a:r>
            <a:endParaRPr lang="en-US" sz="1320" dirty="0"/>
          </a:p>
        </p:txBody>
      </p:sp>
      <p:sp>
        <p:nvSpPr>
          <p:cNvPr id="13" name="Shape 11"/>
          <p:cNvSpPr/>
          <p:nvPr/>
        </p:nvSpPr>
        <p:spPr>
          <a:xfrm>
            <a:off x="5463480" y="2466975"/>
            <a:ext cx="1287810" cy="1356271"/>
          </a:xfrm>
          <a:prstGeom prst="roundRect">
            <a:avLst>
              <a:gd name="adj" fmla="val 8876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25405" y="2638425"/>
            <a:ext cx="315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04</a:t>
            </a:r>
            <a:endParaRPr lang="en-US" sz="1320" dirty="0"/>
          </a:p>
        </p:txBody>
      </p:sp>
      <p:sp>
        <p:nvSpPr>
          <p:cNvPr id="15" name="Text 13"/>
          <p:cNvSpPr txBox="1"/>
          <p:nvPr/>
        </p:nvSpPr>
        <p:spPr>
          <a:xfrm>
            <a:off x="5625405" y="3051721"/>
            <a:ext cx="9830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2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Approuver le plan</a:t>
            </a:r>
            <a:endParaRPr lang="en-US" sz="1320" dirty="0"/>
          </a:p>
        </p:txBody>
      </p:sp>
      <p:sp>
        <p:nvSpPr>
          <p:cNvPr id="16" name="Shape 14"/>
          <p:cNvSpPr/>
          <p:nvPr/>
        </p:nvSpPr>
        <p:spPr>
          <a:xfrm>
            <a:off x="6903690" y="2466975"/>
            <a:ext cx="1287661" cy="1356271"/>
          </a:xfrm>
          <a:prstGeom prst="roundRect">
            <a:avLst>
              <a:gd name="adj" fmla="val 8877"/>
            </a:avLst>
          </a:prstGeom>
          <a:solidFill>
            <a:srgbClr val="FFFFFF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65615" y="2638425"/>
            <a:ext cx="3155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05</a:t>
            </a:r>
            <a:endParaRPr lang="en-US" sz="1320" dirty="0"/>
          </a:p>
        </p:txBody>
      </p:sp>
      <p:sp>
        <p:nvSpPr>
          <p:cNvPr id="18" name="Text 16"/>
          <p:cNvSpPr txBox="1"/>
          <p:nvPr/>
        </p:nvSpPr>
        <p:spPr>
          <a:xfrm>
            <a:off x="7065615" y="3051721"/>
            <a:ext cx="9828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20" dirty="0">
                <a:solidFill>
                  <a:srgbClr val="00000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Vérifier le résultat</a:t>
            </a:r>
            <a:endParaRPr lang="en-US" sz="1320" dirty="0"/>
          </a:p>
        </p:txBody>
      </p:sp>
      <p:sp>
        <p:nvSpPr>
          <p:cNvPr id="19" name="Shape 17"/>
          <p:cNvSpPr/>
          <p:nvPr/>
        </p:nvSpPr>
        <p:spPr>
          <a:xfrm>
            <a:off x="1143000" y="4147096"/>
            <a:ext cx="47625" cy="228600"/>
          </a:xfrm>
          <a:prstGeom prst="rect">
            <a:avLst/>
          </a:prstGeom>
          <a:solidFill>
            <a:srgbClr val="18A99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400175" y="4108996"/>
            <a:ext cx="6611094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2033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L’agent propose et exécute ; le développeur reste responsable.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4547146"/>
            <a:ext cx="6456759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8 min formations existantes · 10 min questions · TDD : piste intéressante, pas obligation</a:t>
            </a:r>
            <a:endParaRPr lang="en-US" sz="1275" dirty="0"/>
          </a:p>
        </p:txBody>
      </p:sp>
      <p:sp>
        <p:nvSpPr>
          <p:cNvPr id="22" name="Text 20"/>
          <p:cNvSpPr txBox="1"/>
          <p:nvPr/>
        </p:nvSpPr>
        <p:spPr>
          <a:xfrm>
            <a:off x="7639794" y="4481512"/>
            <a:ext cx="66600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75" dirty="0">
                <a:solidFill>
                  <a:srgbClr val="556070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15 · 4 min</a:t>
            </a:r>
            <a:endParaRPr lang="en-US" sz="97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Premiers pas vers le développement augmenté par l’IA</dc:title>
  <dc:subject>Une méthode concrète pour travailler avec des agents de code</dc:subject>
  <dc:creator>PptxGenJS</dc:creator>
  <cp:lastModifiedBy>PptxGenJS</cp:lastModifiedBy>
  <cp:revision>1</cp:revision>
  <dcterms:created xsi:type="dcterms:W3CDTF">2026-09-21T13:49:00Z</dcterms:created>
  <dcterms:modified xsi:type="dcterms:W3CDTF">2026-09-21T13:49:00Z</dcterms:modified>
</cp:coreProperties>
</file>